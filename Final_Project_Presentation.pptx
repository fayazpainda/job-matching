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Title Slide</a:t>
            </a:r>
          </a:p>
          <a:p/>
          <a:p>
            <a:r>
              <a:t>Good morning/afternoon, professors and classmates.</a:t>
            </a:r>
          </a:p>
          <a:p>
            <a:r>
              <a:t>My name is Painda Mohammad Fayaz, Student ID 22511204.</a:t>
            </a:r>
          </a:p>
          <a:p>
            <a:r>
              <a:t>Today I will present my final project for the LLM-Assisted Intelligent Decision Application course.</a:t>
            </a:r>
          </a:p>
          <a:p>
            <a:r>
              <a:t>My project is an LLM-Powered Intelligent Job Matching System that combines rule-based scoring with Qwen to help HR teams match candidates to job postings.</a:t>
            </a:r>
          </a:p>
          <a:p>
            <a:r>
              <a:t>The presentation will take approximately 10 minutes, followed by 5 minutes of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Outline</a:t>
            </a:r>
          </a:p>
          <a:p/>
          <a:p>
            <a:r>
              <a:t>Here is the roadmap for today’s presentation.</a:t>
            </a:r>
          </a:p>
          <a:p>
            <a:r>
              <a:t>I will start with the problem background, explain the difficulties in current recruiting processes, then walk through my solution architecture including the scoring algorithm and LLM integration.</a:t>
            </a:r>
          </a:p>
          <a:p>
            <a:r>
              <a:t>After that, I’ll show a live demo and discuss results, limitations, and future improvements.</a:t>
            </a:r>
          </a:p>
          <a:p>
            <a:r>
              <a:t>Let’s begin with the problem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Problem Background</a:t>
            </a:r>
          </a:p>
          <a:p/>
          <a:p>
            <a:r>
              <a:t>The scenario is straightforward: HR teams in tech companies receive hundreds of resumes and need to match them against open job postings.</a:t>
            </a:r>
          </a:p>
          <a:p>
            <a:r>
              <a:t>Currently, each resume takes 5–10 minutes to manually compare against job requirements.</a:t>
            </a:r>
          </a:p>
          <a:p>
            <a:r>
              <a:t>Our dataset covers 1,070 jobs across major tech companies like Google, Meta, Amazon, OpenAI, and Anthropic, with 153 candidate profiles spanning backend, frontend, AI/ML, and DevOps roles.</a:t>
            </a:r>
          </a:p>
          <a:p>
            <a:r>
              <a:t>The system scores candidates across 4 dimensions: skills, experience, education, and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Current Difficulties</a:t>
            </a:r>
          </a:p>
          <a:p/>
          <a:p>
            <a:r>
              <a:t>There are four main pain points in traditional recruiting:</a:t>
            </a:r>
          </a:p>
          <a:p>
            <a:r>
              <a:t>1. Low efficiency – manual review takes 5–10 min per resume, doesn’t scale.</a:t>
            </a:r>
          </a:p>
          <a:p>
            <a:r>
              <a:t>2. Subjective scoring – different HR people, different criteria, inconsistent.</a:t>
            </a:r>
          </a:p>
          <a:p>
            <a:r>
              <a:t>3. Black-box rejections – ATS gives a score but no explanation.</a:t>
            </a:r>
          </a:p>
          <a:p>
            <a:r>
              <a:t>4. Multi-dimensional tradeoffs – skills, experience, education, location all matter differently per role.</a:t>
            </a:r>
          </a:p>
          <a:p>
            <a:r>
              <a:t>These problems motivate our hybrid rule + LLM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Solution Architecture</a:t>
            </a:r>
          </a:p>
          <a:p/>
          <a:p>
            <a:r>
              <a:t>Our solution uses a two-layer combination:</a:t>
            </a:r>
          </a:p>
          <a:p>
            <a:r>
              <a:t>Layer 1: Rule-based scoring computes a weighted composite across 4 dimensions.</a:t>
            </a:r>
          </a:p>
          <a:p>
            <a:r>
              <a:t>Layer 2: LLM (Qwen) generates natural-language explanations for the top match.</a:t>
            </a:r>
          </a:p>
          <a:p/>
          <a:p>
            <a:r>
              <a:t>Why not pure rules? Transparent but rigid — can’t understand semantic similarity.</a:t>
            </a:r>
          </a:p>
          <a:p>
            <a:r>
              <a:t>Why not pure LLM? Flexible but opaque, expensive, unreliable.</a:t>
            </a:r>
          </a:p>
          <a:p>
            <a:r>
              <a:t>Our hybrid gives auditable quantitative scores plus human-readable AI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Scoring Algorithm</a:t>
            </a:r>
          </a:p>
          <a:p/>
          <a:p>
            <a:r>
              <a:t>Each candidate–job pair is scored on four dimensions, normalized to 0–1:</a:t>
            </a:r>
          </a:p>
          <a:p/>
          <a:p>
            <a:r>
              <a:t>1. Skills Match (50%): hybrid score = exact keyword overlap, with a scikit-learn TF-IDF + cosine-similarity term filling the gap so related stacks earn partial credit.</a:t>
            </a:r>
          </a:p>
          <a:p>
            <a:r>
              <a:t>2. Experience (20%): full score if meets minimum years; proportional otherwise.</a:t>
            </a:r>
          </a:p>
          <a:p>
            <a:r>
              <a:t>3. Education (15%): maps degrees to numeric levels.</a:t>
            </a:r>
          </a:p>
          <a:p>
            <a:r>
              <a:t>4. Location (15%): exact=1.0, remote=0.7, different city=0.3.</a:t>
            </a:r>
          </a:p>
          <a:p/>
          <a:p>
            <a:r>
              <a:t>The 0.3 for location mismatch was suggested by Qwen to preserve remote options.</a:t>
            </a:r>
          </a:p>
          <a:p>
            <a:r>
              <a:t>All weights are user-adjustable and auto-normalized to sum to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LLM Integration</a:t>
            </a:r>
          </a:p>
          <a:p/>
          <a:p>
            <a:r>
              <a:t>Qwen is used throughout the project lifecycle, not just at runtime:</a:t>
            </a:r>
          </a:p>
          <a:p>
            <a:r>
              <a:t>- Design: decomposed into input/analysis/display/recommendation modules</a:t>
            </a:r>
          </a:p>
          <a:p>
            <a:r>
              <a:t>- Code generation: ipywidgets UI and matplotlib charts</a:t>
            </a:r>
          </a:p>
          <a:p>
            <a:r>
              <a:t>- Debugging: font display, weight normalization, CSV parsing</a:t>
            </a:r>
          </a:p>
          <a:p>
            <a:r>
              <a:t>- Runtime core feature: natural-language match analysis</a:t>
            </a:r>
          </a:p>
          <a:p>
            <a:r>
              <a:t>- Optimization: suggested 0.3 location score</a:t>
            </a:r>
          </a:p>
          <a:p/>
          <a:p>
            <a:r>
              <a:t>The runtime prompt is carefully designed:</a:t>
            </a:r>
          </a:p>
          <a:p>
            <a:r>
              <a:t>- Role: ‘experienced HR consultant’</a:t>
            </a:r>
          </a:p>
          <a:p>
            <a:r>
              <a:t>- Structured 3-section output: highlights, gaps, recommendation</a:t>
            </a:r>
          </a:p>
          <a:p>
            <a:r>
              <a:t>- max_tokens=600 for cost control (~$0.15 total)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Interactive Interface</a:t>
            </a:r>
          </a:p>
          <a:p/>
          <a:p>
            <a:r>
              <a:t>Two interfaces:</a:t>
            </a:r>
          </a:p>
          <a:p>
            <a:r>
              <a:t>1. Jupyter Notebook (primary): 9 interactive controls for candidate selection, weight adjustment, location filter, salary filter, and LLM toggle.</a:t>
            </a:r>
          </a:p>
          <a:p>
            <a:r>
              <a:t>2. Flask Web App (alternative): modern web UI on localhost:5000 with AJAX-powered real-time matching.</a:t>
            </a:r>
          </a:p>
          <a:p/>
          <a:p>
            <a:r>
              <a:t>Tech stack: Python (pandas, numpy, scikit-learn, matplotlib), Qwen (DashScope) API, ipywidgets + Flask.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Live Demo Walkthrough</a:t>
            </a:r>
          </a:p>
          <a:p/>
          <a:p>
            <a:r>
              <a:t>6-step demo flow (3–4 minutes):</a:t>
            </a:r>
          </a:p>
          <a:p>
            <a:r>
              <a:t>1. Pick Alex Johnson – Python backend, 5 years.</a:t>
            </a:r>
          </a:p>
          <a:p>
            <a:r>
              <a:t>2. Default weights – Senior Python Backend Engineer at ~90 score.</a:t>
            </a:r>
          </a:p>
          <a:p>
            <a:r>
              <a:t>3. Raise Location weight – location-matched jobs rise.</a:t>
            </a:r>
          </a:p>
          <a:p>
            <a:r>
              <a:t>4. Filter to San Francisco – live filtering.</a:t>
            </a:r>
          </a:p>
          <a:p>
            <a:r>
              <a:t>5. Show Qwen analysis – highlights/gaps/recommendation.</a:t>
            </a:r>
          </a:p>
          <a:p>
            <a:r>
              <a:t>6. Switch to Harper Scott – top results change to LLM roles.</a:t>
            </a:r>
          </a:p>
          <a:p/>
          <a:p>
            <a:r>
              <a:t>This showcases scoring, weight adjustment, filtering, visualization, and LLM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Results &amp; Capabilities</a:t>
            </a:r>
          </a:p>
          <a:p/>
          <a:p>
            <a:r>
              <a:t>Four key capabilities:</a:t>
            </a:r>
          </a:p>
          <a:p>
            <a:r>
              <a:t>1. Quantitative matching across 4 dimensions with adjustable weights</a:t>
            </a:r>
          </a:p>
          <a:p>
            <a:r>
              <a:t>2. Dual-view visualization: bar charts and global heatmap</a:t>
            </a:r>
          </a:p>
          <a:p>
            <a:r>
              <a:t>3. Live interactivity with 9 controls</a:t>
            </a:r>
          </a:p>
          <a:p>
            <a:r>
              <a:t>4. AI-powered explanations via Qwen</a:t>
            </a:r>
          </a:p>
          <a:p/>
          <a:p>
            <a:r>
              <a:t>All five assignment requirements are met — complete pipeline, Python + Jupyter, required libraries, all four modules, and fully runnable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Limitations &amp; Future Work</a:t>
            </a:r>
          </a:p>
          <a:p/>
          <a:p>
            <a:r>
              <a:t>Limitations:</a:t>
            </a:r>
          </a:p>
          <a:p>
            <a:r>
              <a:t>1. Term matching – TF-IDF gives partial credit but not true synonyms (React ≈ Vue). Solution: embeddings.</a:t>
            </a:r>
          </a:p>
          <a:p>
            <a:r>
              <a:t>2. Synthetic sample – 1,070 jobs, 153 candidates, all generated. Needs real databases.</a:t>
            </a:r>
          </a:p>
          <a:p>
            <a:r>
              <a:t>3. LLM latency – 2–5 sec per call. Could cache common combinations.</a:t>
            </a:r>
          </a:p>
          <a:p>
            <a:r>
              <a:t>4. No learning loop – doesn’t improve from HR feedback.</a:t>
            </a:r>
          </a:p>
          <a:p/>
          <a:p>
            <a:r>
              <a:t>Future work: semantic embeddings, resume parsing, bidirectional matching, RL from feedback, multi-model voting.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Summary</a:t>
            </a:r>
          </a:p>
          <a:p/>
          <a:p>
            <a:r>
              <a:t>Three key takeaways:</a:t>
            </a:r>
          </a:p>
          <a:p/>
          <a:p>
            <a:r>
              <a:t>1. Hybrid rule + LLM architecture is the right approach for decision-support. Rules give auditability; LLM gives semantic understanding.</a:t>
            </a:r>
          </a:p>
          <a:p/>
          <a:p>
            <a:r>
              <a:t>2. Full-stack implementation covering data input, analysis, visualization, and AI recommendations with Jupyter and web interfaces.</a:t>
            </a:r>
          </a:p>
          <a:p/>
          <a:p>
            <a:r>
              <a:t>3. LLM used throughout the entire lifecycle — design through optimization. Runtime prompt engineered for structured output.</a:t>
            </a:r>
          </a:p>
          <a:p/>
          <a:p>
            <a:r>
              <a:t>Thank you for your attention. I’m happy to answer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Thank You &amp; Q&amp;A</a:t>
            </a:r>
          </a:p>
          <a:p/>
          <a:p>
            <a:r>
              <a:t>Thank you for your attention!</a:t>
            </a:r>
          </a:p>
          <a:p>
            <a:r>
              <a:t>I’m happy to answer any questions about the system architecture, the scoring algorithm, the LLM integration, or the demo.</a:t>
            </a:r>
          </a:p>
          <a:p/>
          <a:p>
            <a:r>
              <a:t>To try the system:</a:t>
            </a:r>
          </a:p>
          <a:p>
            <a:r>
              <a:t>1. Clone the project folder</a:t>
            </a:r>
          </a:p>
          <a:p>
            <a:r>
              <a:t>2. pip install -r requirements.txt</a:t>
            </a:r>
          </a:p>
          <a:p>
            <a:r>
              <a:t>3. Add your DashScope API key to .env</a:t>
            </a:r>
          </a:p>
          <a:p>
            <a:r>
              <a:t>4. jupyter notebook job_matching.ipynb</a:t>
            </a:r>
          </a:p>
          <a:p>
            <a:r>
              <a:t>5. Or: python app.py (web interface at localhost:5000)</a:t>
            </a:r>
          </a:p>
          <a:p/>
          <a:p>
            <a:r>
              <a:t>Contact: fayazpainda@mail.dlut.edu.cn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329184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1206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62" y="320040"/>
            <a:ext cx="242377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51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1A56DB"/>
                </a:solidFill>
                <a:latin typeface="Calibri"/>
              </a:defRPr>
            </a:pPr>
            <a:r>
              <a:t>Dalian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0F3DA8"/>
                </a:solidFill>
                <a:latin typeface="Calibri"/>
              </a:defRPr>
            </a:pPr>
            <a:r>
              <a:t>LLM-Powered Intelligent Job Matching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4A5A6A"/>
                </a:solidFill>
                <a:latin typeface="Calibri"/>
              </a:defRPr>
            </a:pPr>
            <a:r>
              <a:t>Final Project  —  LLM-Assisted Intelligent Decision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10362895" cy="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" b="0" i="0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5029200" y="3931920"/>
            <a:ext cx="2133295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1A1A2E"/>
                </a:solidFill>
                <a:latin typeface="Calibri"/>
              </a:defRPr>
            </a:pPr>
            <a:r>
              <a:t>Presented by:  PAINDA MOHAMMAD FAYAZ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A5A6A"/>
                </a:solidFill>
                <a:latin typeface="Calibri"/>
              </a:defRPr>
            </a:pPr>
            <a:r>
              <a:t>Student ID: 22511204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B7B8D"/>
                </a:solidFill>
                <a:latin typeface="Calibri"/>
              </a:defRPr>
            </a:pPr>
            <a:r>
              <a:t>June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Presentation Outline</a:t>
            </a:r>
          </a:p>
        </p:txBody>
      </p:sp>
      <p:pic>
        <p:nvPicPr>
          <p:cNvPr id="5" name="Picture 4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2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9903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435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Problem 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6459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Why job matching matters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9903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435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Current Difficulties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6459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Pain points in traditional recruiting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35915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Rule-based + LLM hybrid approach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35915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Scoring Algorithm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Four-dimension weighted matching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31927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291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LLM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661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How Qwen enhances the system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31927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291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Interactive Interface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5661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Jupyter widgets &amp; Flask web 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27939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Live Demo Walkthrough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262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End-to-end demonstration flow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427939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8232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Results &amp; Capabilities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45262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What the system achieves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23951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" y="5276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25880" y="5486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Known gaps and roadmap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523951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8232" y="5276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Summary &amp; Q&amp;A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5486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1. Problem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Why intelligent job matching matters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3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25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F3DA8"/>
                </a:solidFill>
                <a:latin typeface="Calibri"/>
              </a:defRPr>
            </a:pPr>
            <a: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A5A6A"/>
                </a:solidFill>
                <a:latin typeface="Calibri"/>
              </a:defRPr>
            </a:pPr>
            <a:r>
              <a:t>HR teams in tech companies need to match candidates to job postings for campus and social recruiting. The process is manual, time-consuming, and often inconsistent across different recruiters.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743200"/>
            <a:ext cx="54864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56DB"/>
                </a:solidFill>
                <a:latin typeface="Calibri"/>
              </a:defRPr>
            </a:pPr>
            <a:r>
              <a:t>Target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HR teams &amp; recruiters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Job seekers &amp; candidates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Recruiting platforms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2743200"/>
            <a:ext cx="54864" cy="13716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0897B"/>
                </a:solidFill>
                <a:latin typeface="Calibri"/>
              </a:defRPr>
            </a:pPr>
            <a:r>
              <a:t>Project Goal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Sortable, explainable matches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Multi-dimensional scoring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AI-powered recommendations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2743200"/>
            <a:ext cx="54864" cy="13716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69F00"/>
                </a:solidFill>
                <a:latin typeface="Calibri"/>
              </a:defRPr>
            </a:pPr>
            <a:r>
              <a:t>Data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1,070 job postings (LinkedIn-style)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153 candidate profiles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15+ tech categories 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72000"/>
            <a:ext cx="10728655" cy="128016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5–10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Per resume review</a:t>
            </a:r>
            <a:br/>
            <a:r>
              <a:t>(manual process)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77 Jobs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Across 10 US cities</a:t>
            </a:r>
            <a:br/>
            <a:r>
              <a:t>&amp; remote positions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26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Backend, Frontend,</a:t>
            </a:r>
            <a:br/>
            <a:r>
              <a:t>AI/ML, DevOps, etc.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4 Dimensions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Skills, Experience,</a:t>
            </a:r>
            <a:br/>
            <a:r>
              <a:t>Education, Location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2. Current Difficulties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Pain points in traditional recruiting workflows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4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371600"/>
            <a:ext cx="64008" cy="2103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1645920"/>
            <a:ext cx="457200" cy="457200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62828"/>
                </a:solidFill>
                <a:latin typeface="Calibri"/>
              </a:defRPr>
            </a:pPr>
            <a:r>
              <a:t>Low 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HR spends 5–10 minutes per resume manually comparing qualifications to job requirements. This does not scale.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371600"/>
            <a:ext cx="64008" cy="2103120"/>
          </a:xfrm>
          <a:prstGeom prst="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75120" y="1645920"/>
            <a:ext cx="457200" cy="457200"/>
          </a:xfrm>
          <a:prstGeom prst="round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65C00"/>
                </a:solidFill>
                <a:latin typeface="Calibri"/>
              </a:defRPr>
            </a:pPr>
            <a:r>
              <a:t>Subjective 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Different recruiters apply different criteria. Results are inconsistent and hard to quantify or audit.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794760"/>
            <a:ext cx="64008" cy="2103120"/>
          </a:xfrm>
          <a:prstGeom prst="rect">
            <a:avLst/>
          </a:prstGeom>
          <a:solidFill>
            <a:srgbClr val="0F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4069080"/>
            <a:ext cx="457200" cy="457200"/>
          </a:xfrm>
          <a:prstGeom prst="roundRect">
            <a:avLst/>
          </a:prstGeom>
          <a:solidFill>
            <a:srgbClr val="0F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2" y="4087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069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F3DA8"/>
                </a:solidFill>
                <a:latin typeface="Calibri"/>
              </a:defRPr>
            </a:pPr>
            <a:r>
              <a:t>Black-Box Rejections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5262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Traditional ATS systems produce a single score with no explanation — candidates never learn why they were rejected.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9476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3794760"/>
            <a:ext cx="64008" cy="210312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75120" y="406908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2552" y="4087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069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897B"/>
                </a:solidFill>
                <a:latin typeface="Calibri"/>
              </a:defRPr>
            </a:pPr>
            <a:r>
              <a:t>Multi-Dimensional Tradeoffs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5262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Skills, experience, education, location, and salary all matter, but the weights differ per role and per company.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3.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Two-layer hybrid: Rule-Based Scoring + LLM Explanation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5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2286000" cy="155448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Data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CSV / UI</a:t>
            </a:r>
            <a:br/>
            <a:r>
              <a:t>Selection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1417320"/>
            <a:ext cx="2286000" cy="155448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Rule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4-Dimension</a:t>
            </a:r>
            <a:br/>
            <a:r>
              <a:t>Weighted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1417320"/>
            <a:ext cx="2286000" cy="15544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Sort &amp;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Table + Charts</a:t>
            </a:r>
            <a:br/>
            <a:r>
              <a:t>+ Heatmap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4040" y="1417320"/>
            <a:ext cx="2286000" cy="155448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LLM Explain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Qwen Analysis</a:t>
            </a:r>
            <a:br/>
            <a:r>
              <a:t>&amp; Advice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F3DA8"/>
                </a:solidFill>
                <a:latin typeface="Calibri"/>
              </a:defRPr>
            </a:pPr>
            <a:r>
              <a:t>Why This Design?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3749039"/>
            <a:ext cx="347472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1A56DB"/>
                </a:solidFill>
                <a:latin typeface="Calibri"/>
              </a:defRPr>
            </a:pPr>
            <a:r>
              <a:t>Pure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Transparent &amp; auditable</a:t>
            </a:r>
            <a:br/>
            <a:r>
              <a:t>but rigid, no semantics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80559" y="3749039"/>
            <a:ext cx="3474720" cy="50800"/>
          </a:xfrm>
          <a:prstGeom prst="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79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E65C00"/>
                </a:solidFill>
                <a:latin typeface="Calibri"/>
              </a:defRPr>
            </a:pPr>
            <a:r>
              <a:t>Pure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79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Flexible &amp; contextual</a:t>
            </a:r>
            <a:br/>
            <a:r>
              <a:t>but opaque, expensive, unreliable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749039"/>
            <a:ext cx="3474720" cy="508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2E7D32"/>
                </a:solidFill>
                <a:latin typeface="Calibri"/>
              </a:defRPr>
            </a:pPr>
            <a:r>
              <a:t>Our Hybrid  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Rules provide auditable scores;</a:t>
            </a:r>
            <a:br/>
            <a:r>
              <a:t>LLM adds semantic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4. Scoring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Four-dimension weighted matching with adjustable parameters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6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2697480" cy="7772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Skills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56DB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keyword overlap + TF-IDF</a:t>
            </a:r>
            <a:br/>
            <a:r>
              <a:t>cosine similarity (scikit-learn)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56DB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Hybrid: exact keyword overlap,</a:t>
            </a:r>
            <a:br/>
            <a:r>
              <a:t>with TF-IDF cosine for related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29000" y="1325880"/>
            <a:ext cx="2697480" cy="77724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897B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38728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0168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1.0 if cand_exp ≥ job_min</a:t>
            </a:r>
            <a:br/>
            <a:r>
              <a:t>else proportional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897B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Full score if meets minimum;</a:t>
            </a:r>
            <a:br/>
            <a:r>
              <a:t>partial credit otherwise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59" y="1325880"/>
            <a:ext cx="2697480" cy="7772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19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9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15%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3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19087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7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Level mapping:</a:t>
            </a:r>
            <a:br/>
            <a:r>
              <a:t>Associate=1, Bachelor=2,</a:t>
            </a:r>
            <a:br/>
            <a:r>
              <a:t>Master=3, PhD=4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39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1.0 if meets or exceeds</a:t>
            </a:r>
            <a:br/>
            <a:r>
              <a:t>required level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19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89719" y="1325880"/>
            <a:ext cx="2697480" cy="7772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79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79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15%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59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9F00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99447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90887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1.0 = exact match</a:t>
            </a:r>
            <a:br/>
            <a:r>
              <a:t>0.7 = remote option</a:t>
            </a:r>
            <a:br/>
            <a:r>
              <a:t>0.3 = different 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72599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9F00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599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Preserves remote work</a:t>
            </a:r>
            <a:br/>
            <a:r>
              <a:t>and relocation options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5. LLM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Qwen API for semantic analysis and natural-language recommendations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7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38988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298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Design Phase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57276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Discussed module decomposition</a:t>
            </a:r>
            <a:br/>
            <a:r>
              <a:t>(input / analysis / display / recommendation)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177393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028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25856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1671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Code 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44144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Generated ipywidgets UI template</a:t>
            </a:r>
            <a:br/>
            <a:r>
              <a:t>and matplotlib dual-view charts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" y="264261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310896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312724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0358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Debugging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31012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Helped debug font display, weight</a:t>
            </a:r>
            <a:br/>
            <a:r>
              <a:t>normalization, CSV parsing issues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" y="351129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3977639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995927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904487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Runtime (Core)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178807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Decision-support engine: generates</a:t>
            </a:r>
            <a:br/>
            <a:r>
              <a:t>highlights / gaps / recommendation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" y="4379975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" y="484632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48646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7731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Optimization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04748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Suggested location mismatch score</a:t>
            </a:r>
            <a:br/>
            <a:r>
              <a:t>of 0.3 instead of 0 for remote options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0" y="1234440"/>
            <a:ext cx="576072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0" y="1234440"/>
            <a:ext cx="576072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13716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56DB"/>
                </a:solidFill>
                <a:latin typeface="Calibri"/>
              </a:defRPr>
            </a:pPr>
            <a:r>
              <a:t>Runtime Prompt 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187451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Role Setup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87451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"You are an experienced and concise HR consultant"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25420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Input Context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254203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Candidate profile + Job details + System scores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209544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Output Format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3209544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3-section Markdown:</a:t>
            </a:r>
            <a:br/>
            <a:r>
              <a:t>   ✅ Match Highlights (2–3 bullets)</a:t>
            </a:r>
            <a:br/>
            <a:r>
              <a:t>   ⚠️ Main Gaps (2–3 bullets)</a:t>
            </a:r>
            <a:br/>
            <a:r>
              <a:t>   💡 Recommendation (1 sentence)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877056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3877056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qwen-plus (configurable via LLM_MODEL env var)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454456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Token Limit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20" y="454456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max_tokens: 600 (cost control)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521207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Cost Estimate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521207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~10 calls for demo, ~600 tokens each, ~$0.15 USD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6. Interactive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Jupyter ipywidgets + Flask web application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8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F3DA8"/>
                </a:solidFill>
                <a:latin typeface="Calibri"/>
              </a:defRPr>
            </a:pPr>
            <a:r>
              <a:t>Jupyter Notebook (Primary)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91640"/>
            <a:ext cx="502920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691640"/>
            <a:ext cx="502920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19202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Candidate selector dropdown (153 candidates)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Skills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Experience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Education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filter (multi-select, 10 cities + Remote)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Minimum salary filter ($0 – $300K)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Top-N control (3 – 15 results)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LLM analysis toggle (enable/disable Qwen)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F3DA8"/>
                </a:solidFill>
                <a:latin typeface="Calibri"/>
              </a:defRPr>
            </a:pPr>
            <a:r>
              <a:t>Flask Web App (Alternative)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691640"/>
            <a:ext cx="5212080" cy="50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9202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Modern responsive web UI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Real-time AJAX matching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Interactive weight adjustment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&amp; salary filtering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Score-colored result cards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Qwen analysis on demand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Runs on localhost:5000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F3DA8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26280"/>
            <a:ext cx="5212080" cy="1645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663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pandas, numpy, scikit-learn, matplotlib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109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501091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Qwen (DashScope) API (qwen-plus)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35838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358383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ipywidgets + Flask + HTML/JS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70585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70585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CSV (jobs.csv, candidates.csv)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7. Live 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Recommended 3–4 minute demonstration flow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9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1481328"/>
            <a:ext cx="777240" cy="292608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4813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4447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Select Candidate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17556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Pick "Alex Johnson"</a:t>
            </a:r>
            <a:br/>
            <a:r>
              <a:t>(Python backend, 5 years, Bachelor)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A56DB"/>
                </a:solidFill>
                <a:latin typeface="Calibri"/>
              </a:defRPr>
            </a:pPr>
            <a:r>
              <a:t>→ Start with a well-rounded candidate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481328"/>
            <a:ext cx="777240" cy="292608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14813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4447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Default Matching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17556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Run with default weights</a:t>
            </a:r>
            <a:br/>
            <a:r>
              <a:t>(Skills 50%, Exp 20%, Edu 15%, Loc 15%)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897B"/>
                </a:solidFill>
                <a:latin typeface="Calibri"/>
              </a:defRPr>
            </a:pPr>
            <a:r>
              <a:t>→ Top 5 shows Senior Python Backend at ~90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718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3081528"/>
            <a:ext cx="777240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081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044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Adjust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33558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Raise the Location weight slider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E7D32"/>
                </a:solidFill>
                <a:latin typeface="Calibri"/>
              </a:defRPr>
            </a:pPr>
            <a:r>
              <a:t>→ Location-matched jobs jump to the top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9718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37960" y="3081528"/>
            <a:ext cx="777240" cy="29260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5392" y="3081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044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Apply Filters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3558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Filter to "San Francisco, CA"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69F00"/>
                </a:solidFill>
                <a:latin typeface="Calibri"/>
              </a:defRPr>
            </a:pPr>
            <a:r>
              <a:t>→ Live filtering narrows results instantly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45720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4681728"/>
            <a:ext cx="777240" cy="292608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46817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4645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View AI 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49560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Show Qwen-generated explanation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8308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A56DB"/>
                </a:solidFill>
                <a:latin typeface="Calibri"/>
              </a:defRPr>
            </a:pPr>
            <a:r>
              <a:t>→ Highlights / Gaps / Recommendation output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5720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37960" y="4681728"/>
            <a:ext cx="777240" cy="292608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46817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2360" y="4645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Switch Candidate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49560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Change to "Harper Scott" (LLM engineer)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897B"/>
                </a:solidFill>
                <a:latin typeface="Calibri"/>
              </a:defRPr>
            </a:pPr>
            <a:r>
              <a:t>→ Top 1 auto-changes to LLM Engineer roles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8. Results &amp;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What the system achieves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10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2697480" cy="6400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Quantitative</a:t>
            </a:r>
            <a:br/>
            <a:r>
              <a:t>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4-dimension weighted scoring</a:t>
            </a:r>
            <a:br/>
            <a:r>
              <a:t>with auto-normalization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1325880"/>
            <a:ext cx="2697480" cy="64008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Clean</a:t>
            </a:r>
            <a:br/>
            <a:r>
              <a:t>Visualization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Dual bar charts (total +</a:t>
            </a:r>
            <a:br/>
            <a:r>
              <a:t>breakdown) + global heatmap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59" y="1325880"/>
            <a:ext cx="269748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19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Live</a:t>
            </a:r>
            <a:br/>
            <a:r>
              <a:t>Interactivity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19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9 controls with instant</a:t>
            </a:r>
            <a:br/>
            <a:r>
              <a:t>updates and filtering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19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19" y="1325880"/>
            <a:ext cx="2697480" cy="6400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79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AI</a:t>
            </a:r>
            <a:br/>
            <a:r>
              <a:t>Explanation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79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Natural-language recommendation</a:t>
            </a:r>
            <a:br/>
            <a:r>
              <a:t>rationale via Qwen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611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F3DA8"/>
                </a:solidFill>
                <a:latin typeface="Calibri"/>
              </a:defRPr>
            </a:pPr>
            <a:r>
              <a:t>Assignment Requirements Checklist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023360"/>
            <a:ext cx="10728655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11480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16966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Complete input → analysis → display → recommendation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16966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All 4 modules implemented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3542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Python + Jupyter Notebook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53542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job_matching.ipynb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84632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90118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Use pandas / matplotlib / scikit-learn / ipywidgets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0118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All present and functional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26694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Data input, analysis, display, parameter interaction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52669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Modules 1–4 with 9 controls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57784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63270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Not chat logs, static docs, or non-runnable code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56327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Fully runnable end-to-end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9. 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Known gaps and improvement roadmap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11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C62828"/>
                </a:solidFill>
                <a:latin typeface="Calibri"/>
              </a:defRPr>
            </a:pPr>
            <a:r>
              <a:t>Current Limitations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9164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69164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176479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Term-Level Matching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TF-IDF captures shared context but not</a:t>
            </a:r>
            <a:br/>
            <a:r>
              <a:t>true synonyms (React ≈ Vue)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4320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81635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Synthetic 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1,070 jobs / 153 candidates are generated;</a:t>
            </a:r>
            <a:br/>
            <a:r>
              <a:t>not validated against real resumes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9476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79476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86791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LLM Latency &amp;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1148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Each API call takes 2–5 seconds;</a:t>
            </a:r>
            <a:br/>
            <a:r>
              <a:t>requires internet connection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84632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91947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No Learning Feedback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663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System doesn’t learn from HR</a:t>
            </a:r>
            <a:br/>
            <a:r>
              <a:t>ratings of recommendations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E7D32"/>
                </a:solidFill>
                <a:latin typeface="Calibri"/>
              </a:defRPr>
            </a:pPr>
            <a:r>
              <a:t>Future Improvements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69164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69164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185623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9944" y="185623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17465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Semantic Embeddings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4650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Replace keyword sets with</a:t>
            </a:r>
            <a:br/>
            <a:r>
              <a:t>embedding-model similarity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56032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56032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272491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9944" y="272491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261518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Resume Parsing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261518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Upload PDF/Word resumes;</a:t>
            </a:r>
            <a:br/>
            <a:r>
              <a:t>LLM auto-extracts structure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42900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342900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359359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359359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4838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Bidirectional Matching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48386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Also recommend candidates</a:t>
            </a:r>
            <a:br/>
            <a:r>
              <a:t>for a given job posting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297679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4297679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400800" y="4462271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9944" y="4462271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4352543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Reinforcement Learning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4352543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HR rates recommendations;</a:t>
            </a:r>
            <a:br/>
            <a:r>
              <a:t>weights auto-adjust via RL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516636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7920" y="516636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0" y="533095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9944" y="533095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2212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Multi-Model Voting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22122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Call multiple LLMs, aggregate</a:t>
            </a:r>
            <a:br/>
            <a:r>
              <a:t>for more reliable 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10.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Key takeaways from the project</a:t>
            </a:r>
          </a:p>
        </p:txBody>
      </p:sp>
      <p:pic>
        <p:nvPicPr>
          <p:cNvPr id="6" name="Picture 5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673" y="292608"/>
            <a:ext cx="1454262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12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258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325880"/>
            <a:ext cx="64008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1600200"/>
            <a:ext cx="502920" cy="50292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16184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14356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A56DB"/>
                </a:solidFill>
                <a:latin typeface="Calibri"/>
              </a:defRPr>
            </a:pPr>
            <a:r>
              <a:t>Hybrid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17830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Rule-based scoring provides transparency and auditability;</a:t>
            </a:r>
            <a:br/>
            <a:r>
              <a:t>LLM adds semantic understanding and natural-language explanations.</a:t>
            </a:r>
            <a:br/>
            <a:r>
              <a:t>Neither alone is sufficient — the combination delivers the best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64008" cy="13716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3200400"/>
            <a:ext cx="502920" cy="50292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1" y="32186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0358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00897B"/>
                </a:solidFill>
                <a:latin typeface="Calibri"/>
              </a:defRPr>
            </a:pPr>
            <a:r>
              <a:t>Full-Stack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832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Complete pipeline from data input through analysis, visualization,</a:t>
            </a:r>
            <a:br/>
            <a:r>
              <a:t>and AI-powered recommendations. Two interfaces: Jupyter + Flask web app.</a:t>
            </a:r>
            <a:br/>
            <a:r>
              <a:t>All assignment requirements met with runnable, end-to-end code.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526280"/>
            <a:ext cx="64008" cy="1371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4800600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1" y="48188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6360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2E7D32"/>
                </a:solidFill>
                <a:latin typeface="Calibri"/>
              </a:defRPr>
            </a:pPr>
            <a:r>
              <a:t>Practical LLM Usage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9834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Qwen is used across the full project lifecycle: design, coding,</a:t>
            </a:r>
            <a:br/>
            <a:r>
              <a:t>debugging, runtime analysis, and optimization. The runtime prompt</a:t>
            </a:r>
            <a:br/>
            <a:r>
              <a:t>is carefully engineered for structured, cost-effective output.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347472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0352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t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526" y="365760"/>
            <a:ext cx="2250643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515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1A56DB"/>
                </a:solidFill>
                <a:latin typeface="Calibri"/>
              </a:defRPr>
            </a:pPr>
            <a:r>
              <a:t>Dalian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F3DA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4A5A6A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3566160"/>
            <a:ext cx="2133295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840480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Student:  PAINDA MOHAMMAD FAYAZ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24528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Student ID:  22511204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608576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Course:  LLM-Assisted Intelligent Decision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992624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Email:  fayazpainda@mail.dlut.edu.cn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355080"/>
            <a:ext cx="2041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