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NOTES – Title Slide</a:t>
            </a:r>
          </a:p>
          <a:p/>
          <a:p>
            <a:r>
              <a:t>Good morning/afternoon, professors and classmates.</a:t>
            </a:r>
          </a:p>
          <a:p>
            <a:r>
              <a:t>My name is Painda Mohammad Fayaz, Student ID 22511204.</a:t>
            </a:r>
          </a:p>
          <a:p>
            <a:r>
              <a:t>Today I will present my final project for the LLM-Assisted Intelligent Decision Application course.</a:t>
            </a:r>
          </a:p>
          <a:p>
            <a:r>
              <a:t>My project is an LLM-Powered Intelligent Job Matching System that combines rule-based scoring with Claude AI to help HR teams match candidates to job postings.</a:t>
            </a:r>
          </a:p>
          <a:p>
            <a:r>
              <a:t>The presentation will take approximately 10 minutes, followed by 5 minutes of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NOTES – Outline</a:t>
            </a:r>
          </a:p>
          <a:p/>
          <a:p>
            <a:r>
              <a:t>Here is the roadmap for today’s presentation.</a:t>
            </a:r>
          </a:p>
          <a:p>
            <a:r>
              <a:t>I will start with the problem background, explain the difficulties in current recruiting processes, then walk through my solution architecture including the scoring algorithm and LLM integration.</a:t>
            </a:r>
          </a:p>
          <a:p>
            <a:r>
              <a:t>After that, I’ll show a live demo and discuss results, limitations, and future improvements.</a:t>
            </a:r>
          </a:p>
          <a:p>
            <a:r>
              <a:t>Let’s begin with the problem background.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NOTES – Problem Background</a:t>
            </a:r>
          </a:p>
          <a:p/>
          <a:p>
            <a:r>
              <a:t>The scenario is straightforward: HR teams in tech companies receive hundreds of resumes and need to match them against open job postings.</a:t>
            </a:r>
          </a:p>
          <a:p>
            <a:r>
              <a:t>Currently, each resume takes 5–10 minutes to manually compare against job requirements.</a:t>
            </a:r>
          </a:p>
          <a:p>
            <a:r>
              <a:t>Our dataset covers 77 jobs across major tech companies like Google, Meta, Amazon, OpenAI, and Anthropic, with 26 candidate profiles spanning backend, frontend, AI/ML, and DevOps roles.</a:t>
            </a:r>
          </a:p>
          <a:p>
            <a:r>
              <a:t>The system scores candidates across 4 dimensions: skills, experience, education, and location.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NOTES – Current Difficulties</a:t>
            </a:r>
          </a:p>
          <a:p/>
          <a:p>
            <a:r>
              <a:t>There are four main pain points in traditional recruiting:</a:t>
            </a:r>
          </a:p>
          <a:p>
            <a:r>
              <a:t>1. Low efficiency – manual review takes 5–10 min per resume, doesn’t scale.</a:t>
            </a:r>
          </a:p>
          <a:p>
            <a:r>
              <a:t>2. Subjective scoring – different HR people, different criteria, inconsistent.</a:t>
            </a:r>
          </a:p>
          <a:p>
            <a:r>
              <a:t>3. Black-box rejections – ATS gives a score but no explanation.</a:t>
            </a:r>
          </a:p>
          <a:p>
            <a:r>
              <a:t>4. Multi-dimensional tradeoffs – skills, experience, education, location all matter differently per role.</a:t>
            </a:r>
          </a:p>
          <a:p>
            <a:r>
              <a:t>These problems motivate our hybrid rule + LLM approach.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NOTES – Solution Architecture</a:t>
            </a:r>
          </a:p>
          <a:p/>
          <a:p>
            <a:r>
              <a:t>Our solution uses a two-layer combination:</a:t>
            </a:r>
          </a:p>
          <a:p>
            <a:r>
              <a:t>Layer 1: Rule-based scoring computes a weighted composite across 4 dimensions.</a:t>
            </a:r>
          </a:p>
          <a:p>
            <a:r>
              <a:t>Layer 2: LLM (Claude) generates natural-language explanations for the top match.</a:t>
            </a:r>
          </a:p>
          <a:p/>
          <a:p>
            <a:r>
              <a:t>Why not pure rules? Transparent but rigid — can’t understand semantic similarity.</a:t>
            </a:r>
          </a:p>
          <a:p>
            <a:r>
              <a:t>Why not pure LLM? Flexible but opaque, expensive, unreliable.</a:t>
            </a:r>
          </a:p>
          <a:p>
            <a:r>
              <a:t>Our hybrid gives auditable quantitative scores plus human-readable AI insights.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NOTES – Scoring Algorithm</a:t>
            </a:r>
          </a:p>
          <a:p/>
          <a:p>
            <a:r>
              <a:t>Each candidate–job pair is scored on four dimensions, normalized to 0–1:</a:t>
            </a:r>
          </a:p>
          <a:p/>
          <a:p>
            <a:r>
              <a:t>1. Skills Match (50%): intersection of candidate and required skills.</a:t>
            </a:r>
          </a:p>
          <a:p>
            <a:r>
              <a:t>2. Experience (20%): full score if meets minimum years; proportional otherwise.</a:t>
            </a:r>
          </a:p>
          <a:p>
            <a:r>
              <a:t>3. Education (15%): maps degrees to numeric levels.</a:t>
            </a:r>
          </a:p>
          <a:p>
            <a:r>
              <a:t>4. Location (15%): exact=1.0, remote=0.7, different city=0.3.</a:t>
            </a:r>
          </a:p>
          <a:p/>
          <a:p>
            <a:r>
              <a:t>The 0.3 for location mismatch was suggested by Claude to preserve remote options.</a:t>
            </a:r>
          </a:p>
          <a:p>
            <a:r>
              <a:t>All weights are user-adjustable and auto-normalized to sum to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NOTES – LLM Integration</a:t>
            </a:r>
          </a:p>
          <a:p/>
          <a:p>
            <a:r>
              <a:t>Claude is used throughout the project lifecycle, not just at runtime:</a:t>
            </a:r>
          </a:p>
          <a:p>
            <a:r>
              <a:t>- Design: decomposed into input/analysis/display/recommendation modules</a:t>
            </a:r>
          </a:p>
          <a:p>
            <a:r>
              <a:t>- Code generation: ipywidgets UI and matplotlib charts</a:t>
            </a:r>
          </a:p>
          <a:p>
            <a:r>
              <a:t>- Debugging: font display, weight normalization, CSV parsing</a:t>
            </a:r>
          </a:p>
          <a:p>
            <a:r>
              <a:t>- Runtime core feature: natural-language match analysis</a:t>
            </a:r>
          </a:p>
          <a:p>
            <a:r>
              <a:t>- Optimization: suggested 0.3 location score</a:t>
            </a:r>
          </a:p>
          <a:p/>
          <a:p>
            <a:r>
              <a:t>The runtime prompt is carefully designed:</a:t>
            </a:r>
          </a:p>
          <a:p>
            <a:r>
              <a:t>- Role: ‘experienced HR consultant’</a:t>
            </a:r>
          </a:p>
          <a:p>
            <a:r>
              <a:t>- Structured 3-section output: highlights, gaps, recommendation</a:t>
            </a:r>
          </a:p>
          <a:p>
            <a:r>
              <a:t>- max_tokens=600 for cost control (~$0.15 total)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NOTES – Interactive Interface</a:t>
            </a:r>
          </a:p>
          <a:p/>
          <a:p>
            <a:r>
              <a:t>Two interfaces:</a:t>
            </a:r>
          </a:p>
          <a:p>
            <a:r>
              <a:t>1. Jupyter Notebook (primary): 9 interactive controls for candidate selection, weight adjustment, location filter, salary filter, and LLM toggle.</a:t>
            </a:r>
          </a:p>
          <a:p>
            <a:r>
              <a:t>2. Flask Web App (alternative): modern web UI on localhost:5000 with AJAX-powered real-time matching.</a:t>
            </a:r>
          </a:p>
          <a:p/>
          <a:p>
            <a:r>
              <a:t>Tech stack: Python (pandas, numpy, scikit-learn, matplotlib), Anthropic Claude API, ipywidgets + Flask.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NOTES – Live Demo Walkthrough</a:t>
            </a:r>
          </a:p>
          <a:p/>
          <a:p>
            <a:r>
              <a:t>6-step demo flow (3–4 minutes):</a:t>
            </a:r>
          </a:p>
          <a:p>
            <a:r>
              <a:t>1. Pick Alex Johnson – Python backend, 5 years.</a:t>
            </a:r>
          </a:p>
          <a:p>
            <a:r>
              <a:t>2. Default weights – Senior Python Backend Engineer at ~90 score.</a:t>
            </a:r>
          </a:p>
          <a:p>
            <a:r>
              <a:t>3. Raise Location weight – location-matched jobs rise.</a:t>
            </a:r>
          </a:p>
          <a:p>
            <a:r>
              <a:t>4. Filter to San Francisco – live filtering.</a:t>
            </a:r>
          </a:p>
          <a:p>
            <a:r>
              <a:t>5. Show Claude AI analysis – highlights/gaps/recommendation.</a:t>
            </a:r>
          </a:p>
          <a:p>
            <a:r>
              <a:t>6. Switch to Harper Scott – top results change to LLM roles.</a:t>
            </a:r>
          </a:p>
          <a:p/>
          <a:p>
            <a:r>
              <a:t>This showcases scoring, weight adjustment, filtering, visualization, and LLM analysis.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NOTES – Results &amp; Capabilities</a:t>
            </a:r>
          </a:p>
          <a:p/>
          <a:p>
            <a:r>
              <a:t>Four key capabilities:</a:t>
            </a:r>
          </a:p>
          <a:p>
            <a:r>
              <a:t>1. Quantitative matching across 4 dimensions with adjustable weights</a:t>
            </a:r>
          </a:p>
          <a:p>
            <a:r>
              <a:t>2. Dual-view visualization: bar charts and global heatmap</a:t>
            </a:r>
          </a:p>
          <a:p>
            <a:r>
              <a:t>3. Live interactivity with 9 controls</a:t>
            </a:r>
          </a:p>
          <a:p>
            <a:r>
              <a:t>4. AI-powered explanations via Claude</a:t>
            </a:r>
          </a:p>
          <a:p/>
          <a:p>
            <a:r>
              <a:t>All five assignment requirements are met — complete pipeline, Python + Jupyter, required libraries, all four modules, and fully runnable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NOTES – Limitations &amp; Future Work</a:t>
            </a:r>
          </a:p>
          <a:p/>
          <a:p>
            <a:r>
              <a:t>Limitations:</a:t>
            </a:r>
          </a:p>
          <a:p>
            <a:r>
              <a:t>1. Keyword matching – doesn’t understand React ≈ Vue. Solution: embeddings.</a:t>
            </a:r>
          </a:p>
          <a:p>
            <a:r>
              <a:t>2. Small sample – 80 jobs, 25 candidates. Needs real databases.</a:t>
            </a:r>
          </a:p>
          <a:p>
            <a:r>
              <a:t>3. LLM latency – 2–5 sec per call. Could cache common combinations.</a:t>
            </a:r>
          </a:p>
          <a:p>
            <a:r>
              <a:t>4. No learning loop – doesn’t improve from HR feedback.</a:t>
            </a:r>
          </a:p>
          <a:p/>
          <a:p>
            <a:r>
              <a:t>Future work: semantic embeddings, resume parsing, bidirectional matching, RL from feedback, multi-model voting.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NOTES – Summary</a:t>
            </a:r>
          </a:p>
          <a:p/>
          <a:p>
            <a:r>
              <a:t>Three key takeaways:</a:t>
            </a:r>
          </a:p>
          <a:p/>
          <a:p>
            <a:r>
              <a:t>1. Hybrid rule + LLM architecture is the right approach for decision-support. Rules give auditability; LLM gives semantic understanding.</a:t>
            </a:r>
          </a:p>
          <a:p/>
          <a:p>
            <a:r>
              <a:t>2. Full-stack implementation covering data input, analysis, visualization, and AI recommendations with Jupyter and web interfaces.</a:t>
            </a:r>
          </a:p>
          <a:p/>
          <a:p>
            <a:r>
              <a:t>3. LLM used throughout the entire lifecycle — design through optimization. Runtime prompt engineered for structured output.</a:t>
            </a:r>
          </a:p>
          <a:p/>
          <a:p>
            <a:r>
              <a:t>Thank you for your attention. I’m happy to answer any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NOTES – Thank You &amp; Q&amp;A</a:t>
            </a:r>
          </a:p>
          <a:p/>
          <a:p>
            <a:r>
              <a:t>Thank you for your attention!</a:t>
            </a:r>
          </a:p>
          <a:p>
            <a:r>
              <a:t>I’m happy to answer any questions about the system architecture, the scoring algorithm, the LLM integration, or the demo.</a:t>
            </a:r>
          </a:p>
          <a:p/>
          <a:p>
            <a:r>
              <a:t>To try the system:</a:t>
            </a:r>
          </a:p>
          <a:p>
            <a:r>
              <a:t>1. Clone the project folder</a:t>
            </a:r>
          </a:p>
          <a:p>
            <a:r>
              <a:t>2. pip install -r requirements.txt</a:t>
            </a:r>
          </a:p>
          <a:p>
            <a:r>
              <a:t>3. Add your Anthropic API key to .env</a:t>
            </a:r>
          </a:p>
          <a:p>
            <a:r>
              <a:t>4. jupyter notebook job_matching.ipynb</a:t>
            </a:r>
          </a:p>
          <a:p>
            <a:r>
              <a:t>5. Or: python app.py (web interface at localhost:5000)</a:t>
            </a:r>
          </a:p>
          <a:p/>
          <a:p>
            <a:r>
              <a:t>Contact: fayazpainda@mail.dlut.edu.cn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828800"/>
            <a:ext cx="12191695" cy="3291840"/>
          </a:xfrm>
          <a:prstGeom prst="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828800"/>
            <a:ext cx="12191695" cy="254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5120640"/>
            <a:ext cx="12191695" cy="254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0" y="320040"/>
            <a:ext cx="2336292" cy="640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14400" y="1051560"/>
            <a:ext cx="10362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1A56DB"/>
                </a:solidFill>
                <a:latin typeface="Calibri"/>
              </a:defRPr>
            </a:pPr>
            <a:r>
              <a:t>Dalian University of Technology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94560"/>
            <a:ext cx="103628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 i="0">
                <a:solidFill>
                  <a:srgbClr val="0F3DA8"/>
                </a:solidFill>
                <a:latin typeface="Calibri"/>
              </a:defRPr>
            </a:pPr>
            <a:r>
              <a:t>LLM-Powered Intelligent Job Matching System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200400"/>
            <a:ext cx="10362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 i="0">
                <a:solidFill>
                  <a:srgbClr val="4A5A6A"/>
                </a:solidFill>
                <a:latin typeface="Calibri"/>
              </a:defRPr>
            </a:pPr>
            <a:r>
              <a:t>Final Project  —  LLM-Assisted Intelligent Decision Application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10362895" cy="36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" b="0" i="0">
                <a:solidFill>
                  <a:srgbClr val="1A1A2E"/>
                </a:solidFill>
                <a:latin typeface="Calibri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5029200" y="3931920"/>
            <a:ext cx="2133295" cy="19050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206240"/>
            <a:ext cx="103628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 i="0">
                <a:solidFill>
                  <a:srgbClr val="1A1A2E"/>
                </a:solidFill>
                <a:latin typeface="Calibri"/>
              </a:defRPr>
            </a:pPr>
            <a:r>
              <a:t>Presented by:  PAINDA MOHAMMAD FAYAZ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663440"/>
            <a:ext cx="103628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 i="0">
                <a:solidFill>
                  <a:srgbClr val="4A5A6A"/>
                </a:solidFill>
                <a:latin typeface="Calibri"/>
              </a:defRPr>
            </a:pPr>
            <a:r>
              <a:t>Student ID: 22511204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394960"/>
            <a:ext cx="103628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6B7B8D"/>
                </a:solidFill>
                <a:latin typeface="Calibri"/>
              </a:defRPr>
            </a:pPr>
            <a:r>
              <a:t>June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3550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1">
                <a:solidFill>
                  <a:srgbClr val="6B7B8D"/>
                </a:solidFill>
                <a:latin typeface="Calibri"/>
              </a:defRPr>
            </a:pPr>
            <a:r>
              <a:t>Confidential – PAINDA MOHAMMAD FAYAZ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63550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B7B8D"/>
                </a:solidFill>
                <a:latin typeface="Calibri"/>
              </a:defRPr>
            </a:pPr>
            <a:r>
              <a:t>LLM-Assisted Intelligent Decision Application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0F3DA8"/>
                </a:solidFill>
                <a:latin typeface="Calibri"/>
              </a:defRPr>
            </a:pPr>
            <a:r>
              <a:t>Presentation Outline</a:t>
            </a:r>
          </a:p>
        </p:txBody>
      </p:sp>
      <p:pic>
        <p:nvPicPr>
          <p:cNvPr id="5" name="Picture 4" descr="d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182880"/>
            <a:ext cx="1668780" cy="4572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1">
                <a:solidFill>
                  <a:srgbClr val="6B7B8D"/>
                </a:solidFill>
                <a:latin typeface="Calibri"/>
              </a:defRPr>
            </a:pPr>
            <a:r>
              <a:t>Confidential – PAINDA MOHAMMAD FAYAZ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63550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B7B8D"/>
                </a:solidFill>
                <a:latin typeface="Calibri"/>
              </a:defRPr>
            </a:pPr>
            <a:r>
              <a:t>LLM-Assisted Intelligent Decision Application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355080"/>
            <a:ext cx="20418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 i="0">
                <a:solidFill>
                  <a:srgbClr val="6B7B8D"/>
                </a:solidFill>
                <a:latin typeface="Calibri"/>
              </a:defRPr>
            </a:pPr>
            <a:r>
              <a:t>2 / 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399032"/>
            <a:ext cx="457200" cy="457200"/>
          </a:xfrm>
          <a:prstGeom prst="round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" y="143560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 i="0">
                <a:solidFill>
                  <a:srgbClr val="FFFFFF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137160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 i="0">
                <a:solidFill>
                  <a:srgbClr val="1A1A2E"/>
                </a:solidFill>
                <a:latin typeface="Calibri"/>
              </a:defRPr>
            </a:pPr>
            <a:r>
              <a:t>Problem Background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1645920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6B7B8D"/>
                </a:solidFill>
                <a:latin typeface="Calibri"/>
              </a:defRPr>
            </a:pPr>
            <a:r>
              <a:t>Why job matching matters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1399032"/>
            <a:ext cx="457200" cy="457200"/>
          </a:xfrm>
          <a:prstGeom prst="round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8232" y="143560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 i="0">
                <a:solidFill>
                  <a:srgbClr val="FFFFFF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95160" y="137160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 i="0">
                <a:solidFill>
                  <a:srgbClr val="1A1A2E"/>
                </a:solidFill>
                <a:latin typeface="Calibri"/>
              </a:defRPr>
            </a:pPr>
            <a:r>
              <a:t>Current Difficulties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95160" y="1645920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6B7B8D"/>
                </a:solidFill>
                <a:latin typeface="Calibri"/>
              </a:defRPr>
            </a:pPr>
            <a:r>
              <a:t>Pain points in traditional recruiting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2359152"/>
            <a:ext cx="457200" cy="457200"/>
          </a:xfrm>
          <a:prstGeom prst="round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8952" y="239572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 i="0">
                <a:solidFill>
                  <a:srgbClr val="FFFFFF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233172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 i="0">
                <a:solidFill>
                  <a:srgbClr val="1A1A2E"/>
                </a:solidFill>
                <a:latin typeface="Calibri"/>
              </a:defRPr>
            </a:pPr>
            <a:r>
              <a:t>Solution Architecture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25880" y="2606040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6B7B8D"/>
                </a:solidFill>
                <a:latin typeface="Calibri"/>
              </a:defRPr>
            </a:pPr>
            <a:r>
              <a:t>Rule-based + LLM hybrid approach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0" y="2359152"/>
            <a:ext cx="457200" cy="457200"/>
          </a:xfrm>
          <a:prstGeom prst="round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28232" y="239572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 i="0">
                <a:solidFill>
                  <a:srgbClr val="FFFFFF"/>
                </a:solidFill>
                <a:latin typeface="Calibri"/>
              </a:defRPr>
            </a:pPr>
            <a: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233172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 i="0">
                <a:solidFill>
                  <a:srgbClr val="1A1A2E"/>
                </a:solidFill>
                <a:latin typeface="Calibri"/>
              </a:defRPr>
            </a:pPr>
            <a:r>
              <a:t>Scoring Algorithm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95160" y="2606040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6B7B8D"/>
                </a:solidFill>
                <a:latin typeface="Calibri"/>
              </a:defRPr>
            </a:pPr>
            <a:r>
              <a:t>Four-dimension weighted matching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3319272"/>
            <a:ext cx="457200" cy="457200"/>
          </a:xfrm>
          <a:prstGeom prst="round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8952" y="335584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 i="0">
                <a:solidFill>
                  <a:srgbClr val="FFFFFF"/>
                </a:solidFill>
                <a:latin typeface="Calibri"/>
              </a:defRPr>
            </a:pPr>
            <a: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25880" y="329184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 i="0">
                <a:solidFill>
                  <a:srgbClr val="1A1A2E"/>
                </a:solidFill>
                <a:latin typeface="Calibri"/>
              </a:defRPr>
            </a:pPr>
            <a:r>
              <a:t>LLM Integration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25880" y="3566160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6B7B8D"/>
                </a:solidFill>
                <a:latin typeface="Calibri"/>
              </a:defRPr>
            </a:pPr>
            <a:r>
              <a:t>How Claude enhances the system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0" y="3319272"/>
            <a:ext cx="457200" cy="457200"/>
          </a:xfrm>
          <a:prstGeom prst="round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28232" y="335584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 i="0">
                <a:solidFill>
                  <a:srgbClr val="FFFFFF"/>
                </a:solidFill>
                <a:latin typeface="Calibri"/>
              </a:defRPr>
            </a:pPr>
            <a:r>
              <a:t>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95160" y="329184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 i="0">
                <a:solidFill>
                  <a:srgbClr val="1A1A2E"/>
                </a:solidFill>
                <a:latin typeface="Calibri"/>
              </a:defRPr>
            </a:pPr>
            <a:r>
              <a:t>Interactive Interface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95160" y="3566160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6B7B8D"/>
                </a:solidFill>
                <a:latin typeface="Calibri"/>
              </a:defRPr>
            </a:pPr>
            <a:r>
              <a:t>Jupyter widgets &amp; Flask web app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1520" y="4279392"/>
            <a:ext cx="457200" cy="457200"/>
          </a:xfrm>
          <a:prstGeom prst="round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58952" y="431596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 i="0">
                <a:solidFill>
                  <a:srgbClr val="FFFFFF"/>
                </a:solidFill>
                <a:latin typeface="Calibri"/>
              </a:defRPr>
            </a:pPr>
            <a:r>
              <a:t>07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25880" y="425196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 i="0">
                <a:solidFill>
                  <a:srgbClr val="1A1A2E"/>
                </a:solidFill>
                <a:latin typeface="Calibri"/>
              </a:defRPr>
            </a:pPr>
            <a:r>
              <a:t>Live Demo Walkthrough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25880" y="4526280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6B7B8D"/>
                </a:solidFill>
                <a:latin typeface="Calibri"/>
              </a:defRPr>
            </a:pPr>
            <a:r>
              <a:t>End-to-end demonstration flow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00800" y="4279392"/>
            <a:ext cx="457200" cy="457200"/>
          </a:xfrm>
          <a:prstGeom prst="round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28232" y="431596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 i="0">
                <a:solidFill>
                  <a:srgbClr val="FFFFFF"/>
                </a:solidFill>
                <a:latin typeface="Calibri"/>
              </a:defRPr>
            </a:pPr>
            <a:r>
              <a:t>08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95160" y="425196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 i="0">
                <a:solidFill>
                  <a:srgbClr val="1A1A2E"/>
                </a:solidFill>
                <a:latin typeface="Calibri"/>
              </a:defRPr>
            </a:pPr>
            <a:r>
              <a:t>Results &amp; Capabilities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95160" y="4526280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6B7B8D"/>
                </a:solidFill>
                <a:latin typeface="Calibri"/>
              </a:defRPr>
            </a:pPr>
            <a:r>
              <a:t>What the system achieves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1520" y="5239512"/>
            <a:ext cx="457200" cy="457200"/>
          </a:xfrm>
          <a:prstGeom prst="round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58952" y="527608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 i="0">
                <a:solidFill>
                  <a:srgbClr val="FFFFFF"/>
                </a:solidFill>
                <a:latin typeface="Calibri"/>
              </a:defRPr>
            </a:pPr>
            <a:r>
              <a:t>09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325880" y="521208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 i="0">
                <a:solidFill>
                  <a:srgbClr val="1A1A2E"/>
                </a:solidFill>
                <a:latin typeface="Calibri"/>
              </a:defRPr>
            </a:pPr>
            <a:r>
              <a:t>Limitations &amp; Future Work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325880" y="5486400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6B7B8D"/>
                </a:solidFill>
                <a:latin typeface="Calibri"/>
              </a:defRPr>
            </a:pPr>
            <a:r>
              <a:t>Known gaps and roadmap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400800" y="5239512"/>
            <a:ext cx="457200" cy="457200"/>
          </a:xfrm>
          <a:prstGeom prst="round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28232" y="527608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 i="0">
                <a:solidFill>
                  <a:srgbClr val="FFFFFF"/>
                </a:solidFill>
                <a:latin typeface="Calibri"/>
              </a:defRPr>
            </a:pPr>
            <a:r>
              <a:t>10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995160" y="521208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 i="0">
                <a:solidFill>
                  <a:srgbClr val="1A1A2E"/>
                </a:solidFill>
                <a:latin typeface="Calibri"/>
              </a:defRPr>
            </a:pPr>
            <a:r>
              <a:t>Summary &amp; Q&amp;A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95160" y="5486400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6B7B8D"/>
                </a:solidFill>
                <a:latin typeface="Calibri"/>
              </a:defRPr>
            </a:pPr>
            <a:r>
              <a:t>Key takeaways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0F3DA8"/>
                </a:solidFill>
                <a:latin typeface="Calibri"/>
              </a:defRPr>
            </a:pPr>
            <a:r>
              <a:t>1. Problem Background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4A5A6A"/>
                </a:solidFill>
                <a:latin typeface="Calibri"/>
              </a:defRPr>
            </a:pPr>
            <a:r>
              <a:t>Why intelligent job matching matters</a:t>
            </a:r>
          </a:p>
        </p:txBody>
      </p:sp>
      <p:pic>
        <p:nvPicPr>
          <p:cNvPr id="6" name="Picture 5" descr="d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182880"/>
            <a:ext cx="1668780" cy="4572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1">
                <a:solidFill>
                  <a:srgbClr val="6B7B8D"/>
                </a:solidFill>
                <a:latin typeface="Calibri"/>
              </a:defRPr>
            </a:pPr>
            <a:r>
              <a:t>Confidential – PAINDA MOHAMMAD FAYAZ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63550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B7B8D"/>
                </a:solidFill>
                <a:latin typeface="Calibri"/>
              </a:defRPr>
            </a:pPr>
            <a:r>
              <a:t>LLM-Assisted Intelligent Decision Application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355080"/>
            <a:ext cx="20418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 i="0">
                <a:solidFill>
                  <a:srgbClr val="6B7B8D"/>
                </a:solidFill>
                <a:latin typeface="Calibri"/>
              </a:defRPr>
            </a:pPr>
            <a:r>
              <a:t>3 / 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32588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0F3DA8"/>
                </a:solidFill>
                <a:latin typeface="Calibri"/>
              </a:defRPr>
            </a:pPr>
            <a:r>
              <a:t>Scenario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17373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4A5A6A"/>
                </a:solidFill>
                <a:latin typeface="Calibri"/>
              </a:defRPr>
            </a:pPr>
            <a:r>
              <a:t>HR teams in tech companies need to match candidates to job postings for campus and social recruiting. The process is manual, time-consuming, and often inconsistent across different recruiters.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743200"/>
            <a:ext cx="3383280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2743200"/>
            <a:ext cx="54864" cy="13716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285292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1A56DB"/>
                </a:solidFill>
                <a:latin typeface="Calibri"/>
              </a:defRPr>
            </a:pPr>
            <a:r>
              <a:t>Target Users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200400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4A5A6A"/>
                </a:solidFill>
                <a:latin typeface="Calibri"/>
              </a:defRPr>
            </a:pPr>
            <a:r>
              <a:t>• HR teams &amp; recruiters</a:t>
            </a:r>
          </a:p>
          <a:p>
            <a:pPr>
              <a:spcAft>
                <a:spcPts val="400"/>
              </a:spcAft>
              <a:defRPr sz="1200">
                <a:solidFill>
                  <a:srgbClr val="4A5A6A"/>
                </a:solidFill>
                <a:latin typeface="Calibri"/>
              </a:defRPr>
            </a:pPr>
            <a:r>
              <a:t>• Job seekers &amp; candidates</a:t>
            </a:r>
          </a:p>
          <a:p>
            <a:pPr>
              <a:spcAft>
                <a:spcPts val="400"/>
              </a:spcAft>
              <a:defRPr sz="1200">
                <a:solidFill>
                  <a:srgbClr val="4A5A6A"/>
                </a:solidFill>
                <a:latin typeface="Calibri"/>
              </a:defRPr>
            </a:pPr>
            <a:r>
              <a:t>• Recruiting platforms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2743200"/>
            <a:ext cx="3383280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9120" y="2743200"/>
            <a:ext cx="54864" cy="1371600"/>
          </a:xfrm>
          <a:prstGeom prst="rect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17720" y="285292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00897B"/>
                </a:solidFill>
                <a:latin typeface="Calibri"/>
              </a:defRPr>
            </a:pPr>
            <a:r>
              <a:t>Project Goal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7720" y="3200400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4A5A6A"/>
                </a:solidFill>
                <a:latin typeface="Calibri"/>
              </a:defRPr>
            </a:pPr>
            <a:r>
              <a:t>• Sortable, explainable matches</a:t>
            </a:r>
          </a:p>
          <a:p>
            <a:pPr>
              <a:spcAft>
                <a:spcPts val="400"/>
              </a:spcAft>
              <a:defRPr sz="1200">
                <a:solidFill>
                  <a:srgbClr val="4A5A6A"/>
                </a:solidFill>
                <a:latin typeface="Calibri"/>
              </a:defRPr>
            </a:pPr>
            <a:r>
              <a:t>• Multi-dimensional scoring</a:t>
            </a:r>
          </a:p>
          <a:p>
            <a:pPr>
              <a:spcAft>
                <a:spcPts val="400"/>
              </a:spcAft>
              <a:defRPr sz="1200">
                <a:solidFill>
                  <a:srgbClr val="4A5A6A"/>
                </a:solidFill>
                <a:latin typeface="Calibri"/>
              </a:defRPr>
            </a:pPr>
            <a:r>
              <a:t>• AI-powered recommendations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2743200"/>
            <a:ext cx="3383280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46720" y="2743200"/>
            <a:ext cx="54864" cy="137160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20" y="285292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E69F00"/>
                </a:solidFill>
                <a:latin typeface="Calibri"/>
              </a:defRPr>
            </a:pPr>
            <a:r>
              <a:t>Data Scale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3200400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4A5A6A"/>
                </a:solidFill>
                <a:latin typeface="Calibri"/>
              </a:defRPr>
            </a:pPr>
            <a:r>
              <a:t>• 77 job postings (LinkedIn-style)</a:t>
            </a:r>
          </a:p>
          <a:p>
            <a:pPr>
              <a:spcAft>
                <a:spcPts val="400"/>
              </a:spcAft>
              <a:defRPr sz="1200">
                <a:solidFill>
                  <a:srgbClr val="4A5A6A"/>
                </a:solidFill>
                <a:latin typeface="Calibri"/>
              </a:defRPr>
            </a:pPr>
            <a:r>
              <a:t>• 26 candidate profiles</a:t>
            </a:r>
          </a:p>
          <a:p>
            <a:pPr>
              <a:spcAft>
                <a:spcPts val="400"/>
              </a:spcAft>
              <a:defRPr sz="1200">
                <a:solidFill>
                  <a:srgbClr val="4A5A6A"/>
                </a:solidFill>
                <a:latin typeface="Calibri"/>
              </a:defRPr>
            </a:pPr>
            <a:r>
              <a:t>• 15+ tech categories covered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4572000"/>
            <a:ext cx="10728655" cy="1280160"/>
          </a:xfrm>
          <a:prstGeom prst="roundRect">
            <a:avLst/>
          </a:prstGeom>
          <a:solidFill>
            <a:srgbClr val="E8F0FE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" y="46634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0F3DA8"/>
                </a:solidFill>
                <a:latin typeface="Calibri"/>
              </a:defRPr>
            </a:pPr>
            <a:r>
              <a:t>5–10 min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" y="50292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4A5A6A"/>
                </a:solidFill>
                <a:latin typeface="Calibri"/>
              </a:defRPr>
            </a:pPr>
            <a:r>
              <a:t>Per resume review</a:t>
            </a:r>
            <a:br/>
            <a:r>
              <a:t>(manual process)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40480" y="46634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0F3DA8"/>
                </a:solidFill>
                <a:latin typeface="Calibri"/>
              </a:defRPr>
            </a:pPr>
            <a:r>
              <a:t>77 Jobs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40480" y="50292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4A5A6A"/>
                </a:solidFill>
                <a:latin typeface="Calibri"/>
              </a:defRPr>
            </a:pPr>
            <a:r>
              <a:t>Across 10 US cities</a:t>
            </a:r>
            <a:br/>
            <a:r>
              <a:t>&amp; remote positions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46634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0F3DA8"/>
                </a:solidFill>
                <a:latin typeface="Calibri"/>
              </a:defRPr>
            </a:pPr>
            <a:r>
              <a:t>26 Candidates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50292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4A5A6A"/>
                </a:solidFill>
                <a:latin typeface="Calibri"/>
              </a:defRPr>
            </a:pPr>
            <a:r>
              <a:t>Backend, Frontend,</a:t>
            </a:r>
            <a:br/>
            <a:r>
              <a:t>AI/ML, DevOps, etc.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26880" y="46634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0F3DA8"/>
                </a:solidFill>
                <a:latin typeface="Calibri"/>
              </a:defRPr>
            </a:pPr>
            <a:r>
              <a:t>4 Dimensions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0" y="50292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4A5A6A"/>
                </a:solidFill>
                <a:latin typeface="Calibri"/>
              </a:defRPr>
            </a:pPr>
            <a:r>
              <a:t>Skills, Experience,</a:t>
            </a:r>
            <a:br/>
            <a:r>
              <a:t>Education, Location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0F3DA8"/>
                </a:solidFill>
                <a:latin typeface="Calibri"/>
              </a:defRPr>
            </a:pPr>
            <a:r>
              <a:t>2. Current Difficulties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4A5A6A"/>
                </a:solidFill>
                <a:latin typeface="Calibri"/>
              </a:defRPr>
            </a:pPr>
            <a:r>
              <a:t>Pain points in traditional recruiting workflows</a:t>
            </a:r>
          </a:p>
        </p:txBody>
      </p:sp>
      <p:pic>
        <p:nvPicPr>
          <p:cNvPr id="6" name="Picture 5" descr="d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182880"/>
            <a:ext cx="1668780" cy="4572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1">
                <a:solidFill>
                  <a:srgbClr val="6B7B8D"/>
                </a:solidFill>
                <a:latin typeface="Calibri"/>
              </a:defRPr>
            </a:pPr>
            <a:r>
              <a:t>Confidential – PAINDA MOHAMMAD FAYAZ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63550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B7B8D"/>
                </a:solidFill>
                <a:latin typeface="Calibri"/>
              </a:defRPr>
            </a:pPr>
            <a:r>
              <a:t>LLM-Assisted Intelligent Decision Application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355080"/>
            <a:ext cx="20418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 i="0">
                <a:solidFill>
                  <a:srgbClr val="6B7B8D"/>
                </a:solidFill>
                <a:latin typeface="Calibri"/>
              </a:defRPr>
            </a:pPr>
            <a:r>
              <a:t>4 / 13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1371600"/>
            <a:ext cx="5303520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1371600"/>
            <a:ext cx="64008" cy="21031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05840" y="1645920"/>
            <a:ext cx="457200" cy="457200"/>
          </a:xfrm>
          <a:prstGeom prst="round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2" y="1664208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164592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C62828"/>
                </a:solidFill>
                <a:latin typeface="Calibri"/>
              </a:defRPr>
            </a:pPr>
            <a:r>
              <a:t>Low Efficiency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2103120"/>
            <a:ext cx="4023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4A5A6A"/>
                </a:solidFill>
                <a:latin typeface="Calibri"/>
              </a:defRPr>
            </a:pPr>
            <a:r>
              <a:t>HR spends 5–10 minutes per resume manually comparing qualifications to job requirements. This does not scale.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1371600"/>
            <a:ext cx="5303520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371600"/>
            <a:ext cx="64008" cy="2103120"/>
          </a:xfrm>
          <a:prstGeom prst="rect">
            <a:avLst/>
          </a:prstGeom>
          <a:solidFill>
            <a:srgbClr val="E65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675120" y="1645920"/>
            <a:ext cx="457200" cy="457200"/>
          </a:xfrm>
          <a:prstGeom prst="roundRect">
            <a:avLst/>
          </a:prstGeom>
          <a:solidFill>
            <a:srgbClr val="E65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02552" y="1664208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164592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E65C00"/>
                </a:solidFill>
                <a:latin typeface="Calibri"/>
              </a:defRPr>
            </a:pPr>
            <a:r>
              <a:t>Subjective Scoring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0" y="2103120"/>
            <a:ext cx="4023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4A5A6A"/>
                </a:solidFill>
                <a:latin typeface="Calibri"/>
              </a:defRPr>
            </a:pPr>
            <a:r>
              <a:t>Different recruiters apply different criteria. Results are inconsistent and hard to quantify or audit.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3794760"/>
            <a:ext cx="5303520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1520" y="3794760"/>
            <a:ext cx="64008" cy="2103120"/>
          </a:xfrm>
          <a:prstGeom prst="rect">
            <a:avLst/>
          </a:prstGeom>
          <a:solidFill>
            <a:srgbClr val="0F3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005840" y="4069080"/>
            <a:ext cx="457200" cy="457200"/>
          </a:xfrm>
          <a:prstGeom prst="roundRect">
            <a:avLst/>
          </a:prstGeom>
          <a:solidFill>
            <a:srgbClr val="0F3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33272" y="4087368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45920" y="406908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0F3DA8"/>
                </a:solidFill>
                <a:latin typeface="Calibri"/>
              </a:defRPr>
            </a:pPr>
            <a:r>
              <a:t>Black-Box Rejections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45920" y="4526280"/>
            <a:ext cx="4023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4A5A6A"/>
                </a:solidFill>
                <a:latin typeface="Calibri"/>
              </a:defRPr>
            </a:pPr>
            <a:r>
              <a:t>Traditional ATS systems produce a single score with no explanation — candidates never learn why they were rejected.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0" y="3794760"/>
            <a:ext cx="5303520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0" y="3794760"/>
            <a:ext cx="64008" cy="2103120"/>
          </a:xfrm>
          <a:prstGeom prst="rect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675120" y="4069080"/>
            <a:ext cx="457200" cy="457200"/>
          </a:xfrm>
          <a:prstGeom prst="roundRect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702552" y="4087368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0" y="406908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00897B"/>
                </a:solidFill>
                <a:latin typeface="Calibri"/>
              </a:defRPr>
            </a:pPr>
            <a:r>
              <a:t>Multi-Dimensional Tradeoffs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0" y="4526280"/>
            <a:ext cx="4023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4A5A6A"/>
                </a:solidFill>
                <a:latin typeface="Calibri"/>
              </a:defRPr>
            </a:pPr>
            <a:r>
              <a:t>Skills, experience, education, location, and salary all matter, but the weights differ per role and per company.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0F3DA8"/>
                </a:solidFill>
                <a:latin typeface="Calibri"/>
              </a:defRPr>
            </a:pPr>
            <a:r>
              <a:t>3. Solution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4A5A6A"/>
                </a:solidFill>
                <a:latin typeface="Calibri"/>
              </a:defRPr>
            </a:pPr>
            <a:r>
              <a:t>Two-layer hybrid: Rule-Based Scoring + LLM Explanation</a:t>
            </a:r>
          </a:p>
        </p:txBody>
      </p:sp>
      <p:pic>
        <p:nvPicPr>
          <p:cNvPr id="6" name="Picture 5" descr="d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182880"/>
            <a:ext cx="1668780" cy="4572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1">
                <a:solidFill>
                  <a:srgbClr val="6B7B8D"/>
                </a:solidFill>
                <a:latin typeface="Calibri"/>
              </a:defRPr>
            </a:pPr>
            <a:r>
              <a:t>Confidential – PAINDA MOHAMMAD FAYAZ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63550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B7B8D"/>
                </a:solidFill>
                <a:latin typeface="Calibri"/>
              </a:defRPr>
            </a:pPr>
            <a:r>
              <a:t>LLM-Assisted Intelligent Decision Application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355080"/>
            <a:ext cx="20418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 i="0">
                <a:solidFill>
                  <a:srgbClr val="6B7B8D"/>
                </a:solidFill>
                <a:latin typeface="Calibri"/>
              </a:defRPr>
            </a:pPr>
            <a:r>
              <a:t>5 / 13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417320"/>
            <a:ext cx="2286000" cy="1554480"/>
          </a:xfrm>
          <a:prstGeom prst="round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50876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 i="0">
                <a:solidFill>
                  <a:srgbClr val="FFFFFF"/>
                </a:solidFill>
                <a:latin typeface="Calibri"/>
              </a:defRPr>
            </a:pPr>
            <a:r>
              <a:t>Data 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196596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FFFFFF"/>
                </a:solidFill>
                <a:latin typeface="Calibri"/>
              </a:defRPr>
            </a:pPr>
            <a:r>
              <a:t>CSV / UI</a:t>
            </a:r>
            <a:br/>
            <a:r>
              <a:t>Selection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0360" y="18288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 i="0">
                <a:solidFill>
                  <a:srgbClr val="1A56DB"/>
                </a:solidFill>
                <a:latin typeface="Calibri"/>
              </a:defRPr>
            </a:pPr>
            <a:r>
              <a:t>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20440" y="1417320"/>
            <a:ext cx="2286000" cy="1554480"/>
          </a:xfrm>
          <a:prstGeom prst="roundRect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11880" y="150876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 i="0">
                <a:solidFill>
                  <a:srgbClr val="FFFFFF"/>
                </a:solidFill>
                <a:latin typeface="Calibri"/>
              </a:defRPr>
            </a:pPr>
            <a:r>
              <a:t>Rule Scoring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11880" y="196596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FFFFFF"/>
                </a:solidFill>
                <a:latin typeface="Calibri"/>
              </a:defRPr>
            </a:pPr>
            <a:r>
              <a:t>4-Dimension</a:t>
            </a:r>
            <a:br/>
            <a:r>
              <a:t>Weighted Score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52160" y="18288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 i="0">
                <a:solidFill>
                  <a:srgbClr val="1A56DB"/>
                </a:solidFill>
                <a:latin typeface="Calibri"/>
              </a:defRPr>
            </a:pPr>
            <a:r>
              <a:t>➡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92240" y="1417320"/>
            <a:ext cx="2286000" cy="1554480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150876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 i="0">
                <a:solidFill>
                  <a:srgbClr val="FFFFFF"/>
                </a:solidFill>
                <a:latin typeface="Calibri"/>
              </a:defRPr>
            </a:pPr>
            <a:r>
              <a:t>Sort &amp; Display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196596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FFFFFF"/>
                </a:solidFill>
                <a:latin typeface="Calibri"/>
              </a:defRPr>
            </a:pPr>
            <a:r>
              <a:t>Table + Charts</a:t>
            </a:r>
            <a:br/>
            <a:r>
              <a:t>+ Heatmap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23960" y="18288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 i="0">
                <a:solidFill>
                  <a:srgbClr val="1A56DB"/>
                </a:solidFill>
                <a:latin typeface="Calibri"/>
              </a:defRPr>
            </a:pPr>
            <a:r>
              <a:t>➡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464040" y="1417320"/>
            <a:ext cx="2286000" cy="1554480"/>
          </a:xfrm>
          <a:prstGeom prst="round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55480" y="150876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 i="0">
                <a:solidFill>
                  <a:srgbClr val="FFFFFF"/>
                </a:solidFill>
                <a:latin typeface="Calibri"/>
              </a:defRPr>
            </a:pPr>
            <a:r>
              <a:t>LLM Explain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55480" y="196596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FFFFFF"/>
                </a:solidFill>
                <a:latin typeface="Calibri"/>
              </a:defRPr>
            </a:pPr>
            <a:r>
              <a:t>Claude Analysis</a:t>
            </a:r>
            <a:br/>
            <a:r>
              <a:t>&amp; Advice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32918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0F3DA8"/>
                </a:solidFill>
                <a:latin typeface="Calibri"/>
              </a:defRPr>
            </a:pPr>
            <a:r>
              <a:t>Why This Design?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520" y="3749039"/>
            <a:ext cx="3474720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1520" y="3749039"/>
            <a:ext cx="3474720" cy="508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39319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 i="0">
                <a:solidFill>
                  <a:srgbClr val="1A56DB"/>
                </a:solidFill>
                <a:latin typeface="Calibri"/>
              </a:defRPr>
            </a:pPr>
            <a:r>
              <a:t>Pure Rules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5840" y="438912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4A5A6A"/>
                </a:solidFill>
                <a:latin typeface="Calibri"/>
              </a:defRPr>
            </a:pPr>
            <a:r>
              <a:t>Transparent &amp; auditable</a:t>
            </a:r>
            <a:br/>
            <a:r>
              <a:t>but rigid, no semantics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480559" y="3749039"/>
            <a:ext cx="3474720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480559" y="3749039"/>
            <a:ext cx="3474720" cy="50800"/>
          </a:xfrm>
          <a:prstGeom prst="rect">
            <a:avLst/>
          </a:prstGeom>
          <a:solidFill>
            <a:srgbClr val="E65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54879" y="39319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 i="0">
                <a:solidFill>
                  <a:srgbClr val="E65C00"/>
                </a:solidFill>
                <a:latin typeface="Calibri"/>
              </a:defRPr>
            </a:pPr>
            <a:r>
              <a:t>Pure LLM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54879" y="438912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4A5A6A"/>
                </a:solidFill>
                <a:latin typeface="Calibri"/>
              </a:defRPr>
            </a:pPr>
            <a:r>
              <a:t>Flexible &amp; contextual</a:t>
            </a:r>
            <a:br/>
            <a:r>
              <a:t>but opaque, expensive, unreliable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229600" y="3749039"/>
            <a:ext cx="3474720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229600" y="3749039"/>
            <a:ext cx="3474720" cy="5080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03920" y="39319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 i="0">
                <a:solidFill>
                  <a:srgbClr val="2E7D32"/>
                </a:solidFill>
                <a:latin typeface="Calibri"/>
              </a:defRPr>
            </a:pPr>
            <a:r>
              <a:t>Our Hybrid  ✓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03920" y="438912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4A5A6A"/>
                </a:solidFill>
                <a:latin typeface="Calibri"/>
              </a:defRPr>
            </a:pPr>
            <a:r>
              <a:t>Rules provide auditable scores;</a:t>
            </a:r>
            <a:br/>
            <a:r>
              <a:t>LLM adds semantic explanation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0F3DA8"/>
                </a:solidFill>
                <a:latin typeface="Calibri"/>
              </a:defRPr>
            </a:pPr>
            <a:r>
              <a:t>4. Scoring Algorithm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4A5A6A"/>
                </a:solidFill>
                <a:latin typeface="Calibri"/>
              </a:defRPr>
            </a:pPr>
            <a:r>
              <a:t>Four-dimension weighted matching with adjustable parameters</a:t>
            </a:r>
          </a:p>
        </p:txBody>
      </p:sp>
      <p:pic>
        <p:nvPicPr>
          <p:cNvPr id="6" name="Picture 5" descr="d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182880"/>
            <a:ext cx="1668780" cy="4572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1">
                <a:solidFill>
                  <a:srgbClr val="6B7B8D"/>
                </a:solidFill>
                <a:latin typeface="Calibri"/>
              </a:defRPr>
            </a:pPr>
            <a:r>
              <a:t>Confidential – PAINDA MOHAMMAD FAYAZ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63550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B7B8D"/>
                </a:solidFill>
                <a:latin typeface="Calibri"/>
              </a:defRPr>
            </a:pPr>
            <a:r>
              <a:t>LLM-Assisted Intelligent Decision Application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355080"/>
            <a:ext cx="20418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 i="0">
                <a:solidFill>
                  <a:srgbClr val="6B7B8D"/>
                </a:solidFill>
                <a:latin typeface="Calibri"/>
              </a:defRPr>
            </a:pPr>
            <a:r>
              <a:t>6 / 13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325880"/>
            <a:ext cx="2697480" cy="46634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1325880"/>
            <a:ext cx="2697480" cy="77724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399032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 i="0">
                <a:solidFill>
                  <a:srgbClr val="FFFFFF"/>
                </a:solidFill>
                <a:latin typeface="Calibri"/>
              </a:defRPr>
            </a:pPr>
            <a:r>
              <a:t>Skills Match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1709928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0">
                <a:solidFill>
                  <a:srgbClr val="E8F5E9"/>
                </a:solidFill>
                <a:latin typeface="Calibri"/>
              </a:defRPr>
            </a:pPr>
            <a:r>
              <a:t>Default weight: 50%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28600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A56DB"/>
                </a:solidFill>
                <a:latin typeface="Calibri"/>
              </a:defRPr>
            </a:pPr>
            <a:r>
              <a:t>Formula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2560320"/>
            <a:ext cx="2468880" cy="1143000"/>
          </a:xfrm>
          <a:prstGeom prst="round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2624328"/>
            <a:ext cx="2286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1A1A2E"/>
                </a:solidFill>
                <a:latin typeface="Calibri"/>
              </a:defRPr>
            </a:pPr>
            <a:r>
              <a:t>|cand_skills ∩ job_skills|</a:t>
            </a:r>
            <a:br/>
            <a:r>
              <a:t>/ |job_skills|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88620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A56DB"/>
                </a:solidFill>
                <a:latin typeface="Calibri"/>
              </a:defRPr>
            </a:pPr>
            <a:r>
              <a:t>Explanation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160520"/>
            <a:ext cx="2331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4A5A6A"/>
                </a:solidFill>
                <a:latin typeface="Calibri"/>
              </a:defRPr>
            </a:pPr>
            <a:r>
              <a:t>Keyword intersection ratio</a:t>
            </a:r>
            <a:br/>
            <a:r>
              <a:t>of candidate vs. required skills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29000" y="1325880"/>
            <a:ext cx="2697480" cy="46634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29000" y="1325880"/>
            <a:ext cx="2697480" cy="777240"/>
          </a:xfrm>
          <a:prstGeom prst="rect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566160" y="1399032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 i="0">
                <a:solidFill>
                  <a:srgbClr val="FFFFFF"/>
                </a:solidFill>
                <a:latin typeface="Calibri"/>
              </a:defRPr>
            </a:pPr>
            <a:r>
              <a:t>Experience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66160" y="1709928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0">
                <a:solidFill>
                  <a:srgbClr val="E8F5E9"/>
                </a:solidFill>
                <a:latin typeface="Calibri"/>
              </a:defRPr>
            </a:pPr>
            <a:r>
              <a:t>Default weight: 20%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11880" y="228600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897B"/>
                </a:solidFill>
                <a:latin typeface="Calibri"/>
              </a:defRPr>
            </a:pPr>
            <a:r>
              <a:t>Formula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538728" y="2560320"/>
            <a:ext cx="2468880" cy="1143000"/>
          </a:xfrm>
          <a:prstGeom prst="round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30168" y="2624328"/>
            <a:ext cx="2286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1A1A2E"/>
                </a:solidFill>
                <a:latin typeface="Calibri"/>
              </a:defRPr>
            </a:pPr>
            <a:r>
              <a:t>1.0 if cand_exp ≥ job_min</a:t>
            </a:r>
            <a:br/>
            <a:r>
              <a:t>else proportional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11880" y="388620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897B"/>
                </a:solidFill>
                <a:latin typeface="Calibri"/>
              </a:defRPr>
            </a:pPr>
            <a:r>
              <a:t>Explanation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11880" y="4160520"/>
            <a:ext cx="2331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4A5A6A"/>
                </a:solidFill>
                <a:latin typeface="Calibri"/>
              </a:defRPr>
            </a:pPr>
            <a:r>
              <a:t>Full score if meets minimum;</a:t>
            </a:r>
            <a:br/>
            <a:r>
              <a:t>partial credit otherwise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59" y="1325880"/>
            <a:ext cx="2697480" cy="46634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309359" y="1325880"/>
            <a:ext cx="2697480" cy="77724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46519" y="1399032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 i="0">
                <a:solidFill>
                  <a:srgbClr val="FFFFFF"/>
                </a:solidFill>
                <a:latin typeface="Calibri"/>
              </a:defRPr>
            </a:pPr>
            <a:r>
              <a:t>Education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46519" y="1709928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0">
                <a:solidFill>
                  <a:srgbClr val="E8F5E9"/>
                </a:solidFill>
                <a:latin typeface="Calibri"/>
              </a:defRPr>
            </a:pPr>
            <a:r>
              <a:t>Default weight: 15%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39" y="228600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2E7D32"/>
                </a:solidFill>
                <a:latin typeface="Calibri"/>
              </a:defRPr>
            </a:pPr>
            <a:r>
              <a:t>Formula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19087" y="2560320"/>
            <a:ext cx="2468880" cy="1143000"/>
          </a:xfrm>
          <a:prstGeom prst="round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10527" y="2624328"/>
            <a:ext cx="2286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1A1A2E"/>
                </a:solidFill>
                <a:latin typeface="Calibri"/>
              </a:defRPr>
            </a:pPr>
            <a:r>
              <a:t>Level mapping:</a:t>
            </a:r>
            <a:br/>
            <a:r>
              <a:t>Associate=1, Bachelor=2,</a:t>
            </a:r>
            <a:br/>
            <a:r>
              <a:t>Master=3, PhD=4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39" y="388620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2E7D32"/>
                </a:solidFill>
                <a:latin typeface="Calibri"/>
              </a:defRPr>
            </a:pPr>
            <a:r>
              <a:t>Explanation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92239" y="4160520"/>
            <a:ext cx="2331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4A5A6A"/>
                </a:solidFill>
                <a:latin typeface="Calibri"/>
              </a:defRPr>
            </a:pPr>
            <a:r>
              <a:t>1.0 if meets or exceeds</a:t>
            </a:r>
            <a:br/>
            <a:r>
              <a:t>required level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189719" y="1325880"/>
            <a:ext cx="2697480" cy="46634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189719" y="1325880"/>
            <a:ext cx="2697480" cy="77724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326879" y="1399032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 i="0">
                <a:solidFill>
                  <a:srgbClr val="FFFFFF"/>
                </a:solidFill>
                <a:latin typeface="Calibri"/>
              </a:defRPr>
            </a:pPr>
            <a:r>
              <a:t>Location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26879" y="1709928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0">
                <a:solidFill>
                  <a:srgbClr val="E8F5E9"/>
                </a:solidFill>
                <a:latin typeface="Calibri"/>
              </a:defRPr>
            </a:pPr>
            <a:r>
              <a:t>Default weight: 15%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72599" y="228600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E69F00"/>
                </a:solidFill>
                <a:latin typeface="Calibri"/>
              </a:defRPr>
            </a:pPr>
            <a:r>
              <a:t>Formula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299447" y="2560320"/>
            <a:ext cx="2468880" cy="1143000"/>
          </a:xfrm>
          <a:prstGeom prst="round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390887" y="2624328"/>
            <a:ext cx="2286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1A1A2E"/>
                </a:solidFill>
                <a:latin typeface="Calibri"/>
              </a:defRPr>
            </a:pPr>
            <a:r>
              <a:t>1.0 = exact match</a:t>
            </a:r>
            <a:br/>
            <a:r>
              <a:t>0.7 = remote option</a:t>
            </a:r>
            <a:br/>
            <a:r>
              <a:t>0.3 = different city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372599" y="388620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E69F00"/>
                </a:solidFill>
                <a:latin typeface="Calibri"/>
              </a:defRPr>
            </a:pPr>
            <a:r>
              <a:t>Explanation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72599" y="4160520"/>
            <a:ext cx="2331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4A5A6A"/>
                </a:solidFill>
                <a:latin typeface="Calibri"/>
              </a:defRPr>
            </a:pPr>
            <a:r>
              <a:t>Preserves remote work</a:t>
            </a:r>
            <a:br/>
            <a:r>
              <a:t>and relocation options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0F3DA8"/>
                </a:solidFill>
                <a:latin typeface="Calibri"/>
              </a:defRPr>
            </a:pPr>
            <a:r>
              <a:t>5. LLM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4A5A6A"/>
                </a:solidFill>
                <a:latin typeface="Calibri"/>
              </a:defRPr>
            </a:pPr>
            <a:r>
              <a:t>Claude API for semantic analysis and natural-language recommendations</a:t>
            </a:r>
          </a:p>
        </p:txBody>
      </p:sp>
      <p:pic>
        <p:nvPicPr>
          <p:cNvPr id="6" name="Picture 5" descr="d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182880"/>
            <a:ext cx="1668780" cy="4572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1">
                <a:solidFill>
                  <a:srgbClr val="6B7B8D"/>
                </a:solidFill>
                <a:latin typeface="Calibri"/>
              </a:defRPr>
            </a:pPr>
            <a:r>
              <a:t>Confidential – PAINDA MOHAMMAD FAYAZ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63550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B7B8D"/>
                </a:solidFill>
                <a:latin typeface="Calibri"/>
              </a:defRPr>
            </a:pPr>
            <a:r>
              <a:t>LLM-Assisted Intelligent Decision Application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355080"/>
            <a:ext cx="20418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 i="0">
                <a:solidFill>
                  <a:srgbClr val="6B7B8D"/>
                </a:solidFill>
                <a:latin typeface="Calibri"/>
              </a:defRPr>
            </a:pPr>
            <a:r>
              <a:t>7 / 13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1371600"/>
            <a:ext cx="365760" cy="365760"/>
          </a:xfrm>
          <a:prstGeom prst="round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" y="1389888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129844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0F3DA8"/>
                </a:solidFill>
                <a:latin typeface="Calibri"/>
              </a:defRPr>
            </a:pPr>
            <a:r>
              <a:t>Design Phase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1572768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4A5A6A"/>
                </a:solidFill>
                <a:latin typeface="Calibri"/>
              </a:defRPr>
            </a:pPr>
            <a:r>
              <a:t>Discussed module decomposition</a:t>
            </a:r>
            <a:br/>
            <a:r>
              <a:t>(input / analysis / display / recommendation)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6112" y="1773936"/>
            <a:ext cx="31750" cy="411480"/>
          </a:xfrm>
          <a:prstGeom prst="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31520" y="2240280"/>
            <a:ext cx="365760" cy="365760"/>
          </a:xfrm>
          <a:prstGeom prst="round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" y="2258568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216712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0F3DA8"/>
                </a:solidFill>
                <a:latin typeface="Calibri"/>
              </a:defRPr>
            </a:pPr>
            <a:r>
              <a:t>Code Generation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2441448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4A5A6A"/>
                </a:solidFill>
                <a:latin typeface="Calibri"/>
              </a:defRPr>
            </a:pPr>
            <a:r>
              <a:t>Generated ipywidgets UI template</a:t>
            </a:r>
            <a:br/>
            <a:r>
              <a:t>and matplotlib dual-view charts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6112" y="2642616"/>
            <a:ext cx="31750" cy="411480"/>
          </a:xfrm>
          <a:prstGeom prst="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31520" y="3108960"/>
            <a:ext cx="365760" cy="365760"/>
          </a:xfrm>
          <a:prstGeom prst="round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8952" y="3127248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303580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0F3DA8"/>
                </a:solidFill>
                <a:latin typeface="Calibri"/>
              </a:defRPr>
            </a:pPr>
            <a:r>
              <a:t>Debugging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4440" y="3310128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4A5A6A"/>
                </a:solidFill>
                <a:latin typeface="Calibri"/>
              </a:defRPr>
            </a:pPr>
            <a:r>
              <a:t>Helped debug font display, weight</a:t>
            </a:r>
            <a:br/>
            <a:r>
              <a:t>normalization, CSV parsing issues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6112" y="3511296"/>
            <a:ext cx="31750" cy="411480"/>
          </a:xfrm>
          <a:prstGeom prst="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31520" y="3977639"/>
            <a:ext cx="365760" cy="365760"/>
          </a:xfrm>
          <a:prstGeom prst="round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8952" y="3995927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4440" y="3904487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0F3DA8"/>
                </a:solidFill>
                <a:latin typeface="Calibri"/>
              </a:defRPr>
            </a:pPr>
            <a:r>
              <a:t>Runtime (Core)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34440" y="4178807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4A5A6A"/>
                </a:solidFill>
                <a:latin typeface="Calibri"/>
              </a:defRPr>
            </a:pPr>
            <a:r>
              <a:t>Decision-support engine: generates</a:t>
            </a:r>
            <a:br/>
            <a:r>
              <a:t>highlights / gaps / recommendation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96112" y="4379975"/>
            <a:ext cx="31750" cy="411480"/>
          </a:xfrm>
          <a:prstGeom prst="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731520" y="4846320"/>
            <a:ext cx="365760" cy="365760"/>
          </a:xfrm>
          <a:prstGeom prst="round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8952" y="4864608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34440" y="477316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0F3DA8"/>
                </a:solidFill>
                <a:latin typeface="Calibri"/>
              </a:defRPr>
            </a:pPr>
            <a:r>
              <a:t>Optimization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34440" y="5047488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4A5A6A"/>
                </a:solidFill>
                <a:latin typeface="Calibri"/>
              </a:defRPr>
            </a:pPr>
            <a:r>
              <a:t>Suggested location mismatch score</a:t>
            </a:r>
            <a:br/>
            <a:r>
              <a:t>of 0.3 instead of 0 for remote options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669280" y="1234440"/>
            <a:ext cx="5760720" cy="4800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0" y="1234440"/>
            <a:ext cx="5760720" cy="508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43600" y="137160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 i="0">
                <a:solidFill>
                  <a:srgbClr val="1A56DB"/>
                </a:solidFill>
                <a:latin typeface="Calibri"/>
              </a:defRPr>
            </a:pPr>
            <a:r>
              <a:t>Runtime Prompt Design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1874519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F3DA8"/>
                </a:solidFill>
                <a:latin typeface="Calibri"/>
              </a:defRPr>
            </a:pPr>
            <a:r>
              <a:t>Role Setup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89520" y="1874519"/>
            <a:ext cx="3566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A5A6A"/>
                </a:solidFill>
                <a:latin typeface="Calibri"/>
              </a:defRPr>
            </a:pPr>
            <a:r>
              <a:t>"You are an experienced and concise HR consultant"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0" y="2542032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F3DA8"/>
                </a:solidFill>
                <a:latin typeface="Calibri"/>
              </a:defRPr>
            </a:pPr>
            <a:r>
              <a:t>Input Context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589520" y="2542032"/>
            <a:ext cx="3566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A5A6A"/>
                </a:solidFill>
                <a:latin typeface="Calibri"/>
              </a:defRPr>
            </a:pPr>
            <a:r>
              <a:t>Candidate profile + Job details + System scores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0" y="3209544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F3DA8"/>
                </a:solidFill>
                <a:latin typeface="Calibri"/>
              </a:defRPr>
            </a:pPr>
            <a:r>
              <a:t>Output Format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589520" y="3209544"/>
            <a:ext cx="3566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A5A6A"/>
                </a:solidFill>
                <a:latin typeface="Calibri"/>
              </a:defRPr>
            </a:pPr>
            <a:r>
              <a:t>3-section Markdown:</a:t>
            </a:r>
            <a:br/>
            <a:r>
              <a:t>   ✅ Match Highlights (2–3 bullets)</a:t>
            </a:r>
            <a:br/>
            <a:r>
              <a:t>   ⚠️ Main Gaps (2–3 bullets)</a:t>
            </a:r>
            <a:br/>
            <a:r>
              <a:t>   💡 Recommendation (1 sentence)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43600" y="3877056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F3DA8"/>
                </a:solidFill>
                <a:latin typeface="Calibri"/>
              </a:defRPr>
            </a:pPr>
            <a:r>
              <a:t>Model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589520" y="3877056"/>
            <a:ext cx="3566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A5A6A"/>
                </a:solidFill>
                <a:latin typeface="Calibri"/>
              </a:defRPr>
            </a:pPr>
            <a:r>
              <a:t>claude-opus-4-7 (configurable via LLM_MODEL env var)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43600" y="4544568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F3DA8"/>
                </a:solidFill>
                <a:latin typeface="Calibri"/>
              </a:defRPr>
            </a:pPr>
            <a:r>
              <a:t>Token Limit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589520" y="4544568"/>
            <a:ext cx="3566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A5A6A"/>
                </a:solidFill>
                <a:latin typeface="Calibri"/>
              </a:defRPr>
            </a:pPr>
            <a:r>
              <a:t>max_tokens: 600 (cost control)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943600" y="5212079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F3DA8"/>
                </a:solidFill>
                <a:latin typeface="Calibri"/>
              </a:defRPr>
            </a:pPr>
            <a:r>
              <a:t>Cost Estimate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89520" y="5212079"/>
            <a:ext cx="3566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A5A6A"/>
                </a:solidFill>
                <a:latin typeface="Calibri"/>
              </a:defRPr>
            </a:pPr>
            <a:r>
              <a:t>~10 calls for demo, ~600 tokens each, ~$0.15 USD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0F3DA8"/>
                </a:solidFill>
                <a:latin typeface="Calibri"/>
              </a:defRPr>
            </a:pPr>
            <a:r>
              <a:t>6. Interactive Interface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4A5A6A"/>
                </a:solidFill>
                <a:latin typeface="Calibri"/>
              </a:defRPr>
            </a:pPr>
            <a:r>
              <a:t>Jupyter ipywidgets + Flask web application</a:t>
            </a:r>
          </a:p>
        </p:txBody>
      </p:sp>
      <p:pic>
        <p:nvPicPr>
          <p:cNvPr id="6" name="Picture 5" descr="d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182880"/>
            <a:ext cx="1668780" cy="4572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1">
                <a:solidFill>
                  <a:srgbClr val="6B7B8D"/>
                </a:solidFill>
                <a:latin typeface="Calibri"/>
              </a:defRPr>
            </a:pPr>
            <a:r>
              <a:t>Confidential – PAINDA MOHAMMAD FAYAZ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63550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B7B8D"/>
                </a:solidFill>
                <a:latin typeface="Calibri"/>
              </a:defRPr>
            </a:pPr>
            <a:r>
              <a:t>LLM-Assisted Intelligent Decision Application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355080"/>
            <a:ext cx="20418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 i="0">
                <a:solidFill>
                  <a:srgbClr val="6B7B8D"/>
                </a:solidFill>
                <a:latin typeface="Calibri"/>
              </a:defRPr>
            </a:pPr>
            <a:r>
              <a:t>8 / 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2801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 i="0">
                <a:solidFill>
                  <a:srgbClr val="0F3DA8"/>
                </a:solidFill>
                <a:latin typeface="Calibri"/>
              </a:defRPr>
            </a:pPr>
            <a:r>
              <a:t>Jupyter Notebook (Primary)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1691640"/>
            <a:ext cx="5029200" cy="4114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1691640"/>
            <a:ext cx="5029200" cy="508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192024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•  Candidate selector dropdown (26 candidates)</a:t>
            </a:r>
          </a:p>
          <a:p>
            <a:pPr>
              <a:spcAft>
                <a:spcPts val="5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•  Skills weight slider (0.0 – 1.0)</a:t>
            </a:r>
          </a:p>
          <a:p>
            <a:pPr>
              <a:spcAft>
                <a:spcPts val="5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•  Experience weight slider (0.0 – 1.0)</a:t>
            </a:r>
          </a:p>
          <a:p>
            <a:pPr>
              <a:spcAft>
                <a:spcPts val="5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•  Education weight slider (0.0 – 1.0)</a:t>
            </a:r>
          </a:p>
          <a:p>
            <a:pPr>
              <a:spcAft>
                <a:spcPts val="5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•  Location weight slider (0.0 – 1.0)</a:t>
            </a:r>
          </a:p>
          <a:p>
            <a:pPr>
              <a:spcAft>
                <a:spcPts val="5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•  Location filter (multi-select, 10 cities + Remote)</a:t>
            </a:r>
          </a:p>
          <a:p>
            <a:pPr>
              <a:spcAft>
                <a:spcPts val="5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•  Minimum salary filter ($0 – $300K)</a:t>
            </a:r>
          </a:p>
          <a:p>
            <a:pPr>
              <a:spcAft>
                <a:spcPts val="5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•  Top-N control (3 – 15 results)</a:t>
            </a:r>
          </a:p>
          <a:p>
            <a:pPr>
              <a:spcAft>
                <a:spcPts val="5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•  LLM analysis toggle (enable/disable Claude)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12801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 i="0">
                <a:solidFill>
                  <a:srgbClr val="0F3DA8"/>
                </a:solidFill>
                <a:latin typeface="Calibri"/>
              </a:defRPr>
            </a:pPr>
            <a:r>
              <a:t>Flask Web App (Alternative)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691640"/>
            <a:ext cx="5212080" cy="2194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7920" y="1691640"/>
            <a:ext cx="5212080" cy="50800"/>
          </a:xfrm>
          <a:prstGeom prst="rect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1920240"/>
            <a:ext cx="4754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•  Modern responsive web UI</a:t>
            </a:r>
          </a:p>
          <a:p>
            <a:pPr>
              <a:spcAft>
                <a:spcPts val="5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•  Real-time AJAX matching</a:t>
            </a:r>
          </a:p>
          <a:p>
            <a:pPr>
              <a:spcAft>
                <a:spcPts val="5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•  Interactive weight adjustment</a:t>
            </a:r>
          </a:p>
          <a:p>
            <a:pPr>
              <a:spcAft>
                <a:spcPts val="5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•  Location &amp; salary filtering</a:t>
            </a:r>
          </a:p>
          <a:p>
            <a:pPr>
              <a:spcAft>
                <a:spcPts val="5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•  Score-colored result cards</a:t>
            </a:r>
          </a:p>
          <a:p>
            <a:pPr>
              <a:spcAft>
                <a:spcPts val="5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•  Claude AI analysis on demand</a:t>
            </a:r>
          </a:p>
          <a:p>
            <a:pPr>
              <a:spcAft>
                <a:spcPts val="5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•  Runs on localhost:5000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41148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0F3DA8"/>
                </a:solidFill>
                <a:latin typeface="Calibri"/>
              </a:defRPr>
            </a:pPr>
            <a:r>
              <a:t>Technology Stack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4526280"/>
            <a:ext cx="5212080" cy="1645920"/>
          </a:xfrm>
          <a:prstGeom prst="roundRect">
            <a:avLst/>
          </a:prstGeom>
          <a:solidFill>
            <a:srgbClr val="E8F0FE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46634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F3DA8"/>
                </a:solidFill>
                <a:latin typeface="Calibri"/>
              </a:defRPr>
            </a:pPr>
            <a:r>
              <a:t>Python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4663440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4A5A6A"/>
                </a:solidFill>
                <a:latin typeface="Calibri"/>
              </a:defRPr>
            </a:pPr>
            <a:r>
              <a:t>pandas, numpy, scikit-learn, matplotlib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501091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F3DA8"/>
                </a:solidFill>
                <a:latin typeface="Calibri"/>
              </a:defRPr>
            </a:pPr>
            <a:r>
              <a:t>LLM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20" y="5010912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4A5A6A"/>
                </a:solidFill>
                <a:latin typeface="Calibri"/>
              </a:defRPr>
            </a:pPr>
            <a:r>
              <a:t>Anthropic Claude API (claude-opus-4-7)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535838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F3DA8"/>
                </a:solidFill>
                <a:latin typeface="Calibri"/>
              </a:defRPr>
            </a:pPr>
            <a:r>
              <a:t>UI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0" y="5358383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4A5A6A"/>
                </a:solidFill>
                <a:latin typeface="Calibri"/>
              </a:defRPr>
            </a:pPr>
            <a:r>
              <a:t>ipywidgets + Flask + HTML/JS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570585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F3DA8"/>
                </a:solidFill>
                <a:latin typeface="Calibri"/>
              </a:defRPr>
            </a:pPr>
            <a:r>
              <a:t>Data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9520" y="5705856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4A5A6A"/>
                </a:solidFill>
                <a:latin typeface="Calibri"/>
              </a:defRPr>
            </a:pPr>
            <a:r>
              <a:t>CSV (jobs.csv, candidates.csv)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0F3DA8"/>
                </a:solidFill>
                <a:latin typeface="Calibri"/>
              </a:defRPr>
            </a:pPr>
            <a:r>
              <a:t>7. Live Demo Walkthrough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4A5A6A"/>
                </a:solidFill>
                <a:latin typeface="Calibri"/>
              </a:defRPr>
            </a:pPr>
            <a:r>
              <a:t>Recommended 3–4 minute demonstration flow</a:t>
            </a:r>
          </a:p>
        </p:txBody>
      </p:sp>
      <p:pic>
        <p:nvPicPr>
          <p:cNvPr id="6" name="Picture 5" descr="d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182880"/>
            <a:ext cx="1668780" cy="4572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1">
                <a:solidFill>
                  <a:srgbClr val="6B7B8D"/>
                </a:solidFill>
                <a:latin typeface="Calibri"/>
              </a:defRPr>
            </a:pPr>
            <a:r>
              <a:t>Confidential – PAINDA MOHAMMAD FAYAZ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63550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B7B8D"/>
                </a:solidFill>
                <a:latin typeface="Calibri"/>
              </a:defRPr>
            </a:pPr>
            <a:r>
              <a:t>LLM-Assisted Intelligent Decision Application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355080"/>
            <a:ext cx="20418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 i="0">
                <a:solidFill>
                  <a:srgbClr val="6B7B8D"/>
                </a:solidFill>
                <a:latin typeface="Calibri"/>
              </a:defRPr>
            </a:pPr>
            <a:r>
              <a:t>9 / 13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1371600"/>
            <a:ext cx="5303520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68680" y="1481328"/>
            <a:ext cx="777240" cy="292608"/>
          </a:xfrm>
          <a:prstGeom prst="round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148132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FFFFFF"/>
                </a:solidFill>
                <a:latin typeface="Calibri"/>
              </a:defRPr>
            </a:pPr>
            <a:r>
              <a:t>Step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1444752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1A1A2E"/>
                </a:solidFill>
                <a:latin typeface="Calibri"/>
              </a:defRPr>
            </a:pPr>
            <a:r>
              <a:t>Select Candidate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1755648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A5A6A"/>
                </a:solidFill>
                <a:latin typeface="Calibri"/>
              </a:defRPr>
            </a:pPr>
            <a:r>
              <a:t>Pick "Alex Johnson"</a:t>
            </a:r>
            <a:br/>
            <a:r>
              <a:t>(Python backend, 5 years, Bachelor)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233172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A56DB"/>
                </a:solidFill>
                <a:latin typeface="Calibri"/>
              </a:defRPr>
            </a:pPr>
            <a:r>
              <a:t>→ Start with a well-rounded candidate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1371600"/>
            <a:ext cx="5303520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37960" y="1481328"/>
            <a:ext cx="777240" cy="292608"/>
          </a:xfrm>
          <a:prstGeom prst="roundRect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65392" y="148132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FFFFFF"/>
                </a:solidFill>
                <a:latin typeface="Calibri"/>
              </a:defRPr>
            </a:pPr>
            <a:r>
              <a:t>Step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52360" y="1444752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1A1A2E"/>
                </a:solidFill>
                <a:latin typeface="Calibri"/>
              </a:defRPr>
            </a:pPr>
            <a:r>
              <a:t>Default Matching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52360" y="1755648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A5A6A"/>
                </a:solidFill>
                <a:latin typeface="Calibri"/>
              </a:defRPr>
            </a:pPr>
            <a:r>
              <a:t>Run with default weights</a:t>
            </a:r>
            <a:br/>
            <a:r>
              <a:t>(Skills 50%, Exp 20%, Edu 15%, Loc 15%)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52360" y="233172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897B"/>
                </a:solidFill>
                <a:latin typeface="Calibri"/>
              </a:defRPr>
            </a:pPr>
            <a:r>
              <a:t>→ Top 5 shows Senior Python Backend at ~90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2971800"/>
            <a:ext cx="5303520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68680" y="3081528"/>
            <a:ext cx="777240" cy="292608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6112" y="308152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FFFFFF"/>
                </a:solidFill>
                <a:latin typeface="Calibri"/>
              </a:defRPr>
            </a:pPr>
            <a:r>
              <a:t>Step 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83080" y="3044952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1A1A2E"/>
                </a:solidFill>
                <a:latin typeface="Calibri"/>
              </a:defRPr>
            </a:pPr>
            <a:r>
              <a:t>Adjust Weights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83080" y="3355848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A5A6A"/>
                </a:solidFill>
                <a:latin typeface="Calibri"/>
              </a:defRPr>
            </a:pPr>
            <a:r>
              <a:t>Raise the Location weight slider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83080" y="393192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2E7D32"/>
                </a:solidFill>
                <a:latin typeface="Calibri"/>
              </a:defRPr>
            </a:pPr>
            <a:r>
              <a:t>→ Location-matched jobs jump to the top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0" y="2971800"/>
            <a:ext cx="5303520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537960" y="3081528"/>
            <a:ext cx="777240" cy="292608"/>
          </a:xfrm>
          <a:prstGeom prst="round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65392" y="308152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FFFFFF"/>
                </a:solidFill>
                <a:latin typeface="Calibri"/>
              </a:defRPr>
            </a:pPr>
            <a:r>
              <a:t>Step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52360" y="3044952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1A1A2E"/>
                </a:solidFill>
                <a:latin typeface="Calibri"/>
              </a:defRPr>
            </a:pPr>
            <a:r>
              <a:t>Apply Filters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52360" y="3355848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A5A6A"/>
                </a:solidFill>
                <a:latin typeface="Calibri"/>
              </a:defRPr>
            </a:pPr>
            <a:r>
              <a:t>Filter to "San Francisco, CA" only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52360" y="393192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69F00"/>
                </a:solidFill>
                <a:latin typeface="Calibri"/>
              </a:defRPr>
            </a:pPr>
            <a:r>
              <a:t>→ Live filtering narrows results instantly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31520" y="4572000"/>
            <a:ext cx="5303520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68680" y="4681728"/>
            <a:ext cx="777240" cy="292608"/>
          </a:xfrm>
          <a:prstGeom prst="round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6112" y="468172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FFFFFF"/>
                </a:solidFill>
                <a:latin typeface="Calibri"/>
              </a:defRPr>
            </a:pPr>
            <a:r>
              <a:t>Step 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783080" y="4645152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1A1A2E"/>
                </a:solidFill>
                <a:latin typeface="Calibri"/>
              </a:defRPr>
            </a:pPr>
            <a:r>
              <a:t>View AI Analysis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783080" y="4956048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A5A6A"/>
                </a:solidFill>
                <a:latin typeface="Calibri"/>
              </a:defRPr>
            </a:pPr>
            <a:r>
              <a:t>Show Claude-generated explanation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783080" y="553212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A56DB"/>
                </a:solidFill>
                <a:latin typeface="Calibri"/>
              </a:defRPr>
            </a:pPr>
            <a:r>
              <a:t>→ Highlights / Gaps / Recommendation output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400800" y="4572000"/>
            <a:ext cx="5303520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6537960" y="4681728"/>
            <a:ext cx="777240" cy="292608"/>
          </a:xfrm>
          <a:prstGeom prst="roundRect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65392" y="468172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FFFFFF"/>
                </a:solidFill>
                <a:latin typeface="Calibri"/>
              </a:defRPr>
            </a:pPr>
            <a:r>
              <a:t>Step 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52360" y="4645152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1A1A2E"/>
                </a:solidFill>
                <a:latin typeface="Calibri"/>
              </a:defRPr>
            </a:pPr>
            <a:r>
              <a:t>Switch Candidate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52360" y="4956048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A5A6A"/>
                </a:solidFill>
                <a:latin typeface="Calibri"/>
              </a:defRPr>
            </a:pPr>
            <a:r>
              <a:t>Change to "Harper Scott" (LLM engineer)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52360" y="553212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897B"/>
                </a:solidFill>
                <a:latin typeface="Calibri"/>
              </a:defRPr>
            </a:pPr>
            <a:r>
              <a:t>→ Top 1 auto-changes to LLM Engineer roles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0F3DA8"/>
                </a:solidFill>
                <a:latin typeface="Calibri"/>
              </a:defRPr>
            </a:pPr>
            <a:r>
              <a:t>8. Results &amp; Capabilities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4A5A6A"/>
                </a:solidFill>
                <a:latin typeface="Calibri"/>
              </a:defRPr>
            </a:pPr>
            <a:r>
              <a:t>What the system achieves</a:t>
            </a:r>
          </a:p>
        </p:txBody>
      </p:sp>
      <p:pic>
        <p:nvPicPr>
          <p:cNvPr id="6" name="Picture 5" descr="d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182880"/>
            <a:ext cx="1668780" cy="4572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1">
                <a:solidFill>
                  <a:srgbClr val="6B7B8D"/>
                </a:solidFill>
                <a:latin typeface="Calibri"/>
              </a:defRPr>
            </a:pPr>
            <a:r>
              <a:t>Confidential – PAINDA MOHAMMAD FAYAZ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63550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B7B8D"/>
                </a:solidFill>
                <a:latin typeface="Calibri"/>
              </a:defRPr>
            </a:pPr>
            <a:r>
              <a:t>LLM-Assisted Intelligent Decision Application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355080"/>
            <a:ext cx="20418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 i="0">
                <a:solidFill>
                  <a:srgbClr val="6B7B8D"/>
                </a:solidFill>
                <a:latin typeface="Calibri"/>
              </a:defRPr>
            </a:pPr>
            <a:r>
              <a:t>10 / 13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325880"/>
            <a:ext cx="2697480" cy="1965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1325880"/>
            <a:ext cx="2697480" cy="6400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371600"/>
            <a:ext cx="2423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 i="0">
                <a:solidFill>
                  <a:srgbClr val="FFFFFF"/>
                </a:solidFill>
                <a:latin typeface="Calibri"/>
              </a:defRPr>
            </a:pPr>
            <a:r>
              <a:t>Quantitative</a:t>
            </a:r>
            <a:br/>
            <a:r>
              <a:t>Matching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103120"/>
            <a:ext cx="2423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 i="0">
                <a:solidFill>
                  <a:srgbClr val="4A5A6A"/>
                </a:solidFill>
                <a:latin typeface="Calibri"/>
              </a:defRPr>
            </a:pPr>
            <a:r>
              <a:t>4-dimension weighted scoring</a:t>
            </a:r>
            <a:br/>
            <a:r>
              <a:t>with auto-normalization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29000" y="1325880"/>
            <a:ext cx="2697480" cy="1965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29000" y="1325880"/>
            <a:ext cx="2697480" cy="640080"/>
          </a:xfrm>
          <a:prstGeom prst="rect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66160" y="1371600"/>
            <a:ext cx="2423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 i="0">
                <a:solidFill>
                  <a:srgbClr val="FFFFFF"/>
                </a:solidFill>
                <a:latin typeface="Calibri"/>
              </a:defRPr>
            </a:pPr>
            <a:r>
              <a:t>Clean</a:t>
            </a:r>
            <a:br/>
            <a:r>
              <a:t>Visualization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2103120"/>
            <a:ext cx="2423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 i="0">
                <a:solidFill>
                  <a:srgbClr val="4A5A6A"/>
                </a:solidFill>
                <a:latin typeface="Calibri"/>
              </a:defRPr>
            </a:pPr>
            <a:r>
              <a:t>Dual bar charts (total +</a:t>
            </a:r>
            <a:br/>
            <a:r>
              <a:t>breakdown) + global heatmap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59" y="1325880"/>
            <a:ext cx="2697480" cy="1965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09359" y="1325880"/>
            <a:ext cx="2697480" cy="64008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19" y="1371600"/>
            <a:ext cx="2423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 i="0">
                <a:solidFill>
                  <a:srgbClr val="FFFFFF"/>
                </a:solidFill>
                <a:latin typeface="Calibri"/>
              </a:defRPr>
            </a:pPr>
            <a:r>
              <a:t>Live</a:t>
            </a:r>
            <a:br/>
            <a:r>
              <a:t>Interactivity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19" y="2103120"/>
            <a:ext cx="2423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 i="0">
                <a:solidFill>
                  <a:srgbClr val="4A5A6A"/>
                </a:solidFill>
                <a:latin typeface="Calibri"/>
              </a:defRPr>
            </a:pPr>
            <a:r>
              <a:t>9 controls with instant</a:t>
            </a:r>
            <a:br/>
            <a:r>
              <a:t>updates and filtering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89719" y="1325880"/>
            <a:ext cx="2697480" cy="1965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89719" y="1325880"/>
            <a:ext cx="2697480" cy="64008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26879" y="1371600"/>
            <a:ext cx="2423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 i="0">
                <a:solidFill>
                  <a:srgbClr val="FFFFFF"/>
                </a:solidFill>
                <a:latin typeface="Calibri"/>
              </a:defRPr>
            </a:pPr>
            <a:r>
              <a:t>AI</a:t>
            </a:r>
            <a:br/>
            <a:r>
              <a:t>Explanation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79" y="2103120"/>
            <a:ext cx="2423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 i="0">
                <a:solidFill>
                  <a:srgbClr val="4A5A6A"/>
                </a:solidFill>
                <a:latin typeface="Calibri"/>
              </a:defRPr>
            </a:pPr>
            <a:r>
              <a:t>Natural-language recommendation</a:t>
            </a:r>
            <a:br/>
            <a:r>
              <a:t>rationale via Claude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36118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0F3DA8"/>
                </a:solidFill>
                <a:latin typeface="Calibri"/>
              </a:defRPr>
            </a:pPr>
            <a:r>
              <a:t>Assignment Requirements Checklist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1520" y="4023360"/>
            <a:ext cx="10728655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77240" y="4114800"/>
            <a:ext cx="10637215" cy="347472"/>
          </a:xfrm>
          <a:prstGeom prst="round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4169664"/>
            <a:ext cx="6400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1A1A2E"/>
                </a:solidFill>
                <a:latin typeface="Calibri"/>
              </a:defRPr>
            </a:pPr>
            <a:r>
              <a:t>Complete input → analysis → display → recommendation app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79" y="4169664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2E7D32"/>
                </a:solidFill>
                <a:latin typeface="Calibri"/>
              </a:defRPr>
            </a:pPr>
            <a:r>
              <a:t>✅ All 4 modules implemented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4535424"/>
            <a:ext cx="6400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1A1A2E"/>
                </a:solidFill>
                <a:latin typeface="Calibri"/>
              </a:defRPr>
            </a:pPr>
            <a:r>
              <a:t>Python + Jupyter Notebook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4535424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2E7D32"/>
                </a:solidFill>
                <a:latin typeface="Calibri"/>
              </a:defRPr>
            </a:pPr>
            <a:r>
              <a:t>✅ job_matching.ipynb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77240" y="4846320"/>
            <a:ext cx="10637215" cy="347472"/>
          </a:xfrm>
          <a:prstGeom prst="round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4400" y="4901184"/>
            <a:ext cx="6400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1A1A2E"/>
                </a:solidFill>
                <a:latin typeface="Calibri"/>
              </a:defRPr>
            </a:pPr>
            <a:r>
              <a:t>Use pandas / matplotlib / scikit-learn / ipywidgets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79" y="4901184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2E7D32"/>
                </a:solidFill>
                <a:latin typeface="Calibri"/>
              </a:defRPr>
            </a:pPr>
            <a:r>
              <a:t>✅ All present and functional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5266944"/>
            <a:ext cx="6400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1A1A2E"/>
                </a:solidFill>
                <a:latin typeface="Calibri"/>
              </a:defRPr>
            </a:pPr>
            <a:r>
              <a:t>Data input, analysis, display, parameter interaction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79" y="5266944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2E7D32"/>
                </a:solidFill>
                <a:latin typeface="Calibri"/>
              </a:defRPr>
            </a:pPr>
            <a:r>
              <a:t>✅ Modules 1–4 with 9 controls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77240" y="5577840"/>
            <a:ext cx="10637215" cy="347472"/>
          </a:xfrm>
          <a:prstGeom prst="round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" y="5632704"/>
            <a:ext cx="6400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1A1A2E"/>
                </a:solidFill>
                <a:latin typeface="Calibri"/>
              </a:defRPr>
            </a:pPr>
            <a:r>
              <a:t>Not chat logs, static docs, or non-runnable code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98079" y="5632704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2E7D32"/>
                </a:solidFill>
                <a:latin typeface="Calibri"/>
              </a:defRPr>
            </a:pPr>
            <a:r>
              <a:t>✅ Fully runnable end-to-end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0F3DA8"/>
                </a:solidFill>
                <a:latin typeface="Calibri"/>
              </a:defRPr>
            </a:pPr>
            <a:r>
              <a:t>9. Limitations &amp; Future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4A5A6A"/>
                </a:solidFill>
                <a:latin typeface="Calibri"/>
              </a:defRPr>
            </a:pPr>
            <a:r>
              <a:t>Known gaps and improvement roadmap</a:t>
            </a:r>
          </a:p>
        </p:txBody>
      </p:sp>
      <p:pic>
        <p:nvPicPr>
          <p:cNvPr id="6" name="Picture 5" descr="d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182880"/>
            <a:ext cx="1668780" cy="4572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1">
                <a:solidFill>
                  <a:srgbClr val="6B7B8D"/>
                </a:solidFill>
                <a:latin typeface="Calibri"/>
              </a:defRPr>
            </a:pPr>
            <a:r>
              <a:t>Confidential – PAINDA MOHAMMAD FAYAZ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63550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B7B8D"/>
                </a:solidFill>
                <a:latin typeface="Calibri"/>
              </a:defRPr>
            </a:pPr>
            <a:r>
              <a:t>LLM-Assisted Intelligent Decision Application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355080"/>
            <a:ext cx="20418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 i="0">
                <a:solidFill>
                  <a:srgbClr val="6B7B8D"/>
                </a:solidFill>
                <a:latin typeface="Calibri"/>
              </a:defRPr>
            </a:pPr>
            <a:r>
              <a:t>11 / 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2801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 i="0">
                <a:solidFill>
                  <a:srgbClr val="C62828"/>
                </a:solidFill>
                <a:latin typeface="Calibri"/>
              </a:defRPr>
            </a:pPr>
            <a:r>
              <a:t>Current Limitations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1691640"/>
            <a:ext cx="5029200" cy="868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1691640"/>
            <a:ext cx="54864" cy="86868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1764792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C62828"/>
                </a:solidFill>
                <a:latin typeface="Calibri"/>
              </a:defRPr>
            </a:pPr>
            <a:r>
              <a:t>⚠  Keyword-Level Matching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2011680"/>
            <a:ext cx="4389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A5A6A"/>
                </a:solidFill>
                <a:latin typeface="Calibri"/>
              </a:defRPr>
            </a:pPr>
            <a:r>
              <a:t>Skills matching doesn’t recognize</a:t>
            </a:r>
            <a:br/>
            <a:r>
              <a:t>React ↔ Vue as related frameworks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2743200"/>
            <a:ext cx="5029200" cy="868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1520" y="2743200"/>
            <a:ext cx="54864" cy="86868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2816352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C62828"/>
                </a:solidFill>
                <a:latin typeface="Calibri"/>
              </a:defRPr>
            </a:pPr>
            <a:r>
              <a:t>⚠  Limited Sample Size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3063240"/>
            <a:ext cx="4389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A5A6A"/>
                </a:solidFill>
                <a:latin typeface="Calibri"/>
              </a:defRPr>
            </a:pPr>
            <a:r>
              <a:t>Only ~80 jobs and ~25 candidates;</a:t>
            </a:r>
            <a:br/>
            <a:r>
              <a:t>not validated against real resumes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3794760"/>
            <a:ext cx="5029200" cy="868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1520" y="3794760"/>
            <a:ext cx="54864" cy="86868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3867912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C62828"/>
                </a:solidFill>
                <a:latin typeface="Calibri"/>
              </a:defRPr>
            </a:pPr>
            <a:r>
              <a:t>⚠  LLM Latency &amp; Cost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4114800"/>
            <a:ext cx="4389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A5A6A"/>
                </a:solidFill>
                <a:latin typeface="Calibri"/>
              </a:defRPr>
            </a:pPr>
            <a:r>
              <a:t>Each API call takes 2–5 seconds;</a:t>
            </a:r>
            <a:br/>
            <a:r>
              <a:t>requires internet connection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4846320"/>
            <a:ext cx="5029200" cy="868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" y="4846320"/>
            <a:ext cx="54864" cy="86868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4919472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C62828"/>
                </a:solidFill>
                <a:latin typeface="Calibri"/>
              </a:defRPr>
            </a:pPr>
            <a:r>
              <a:t>⚠  No Learning Feedback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5166360"/>
            <a:ext cx="4389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A5A6A"/>
                </a:solidFill>
                <a:latin typeface="Calibri"/>
              </a:defRPr>
            </a:pPr>
            <a:r>
              <a:t>System doesn’t learn from HR</a:t>
            </a:r>
            <a:br/>
            <a:r>
              <a:t>ratings of recommendations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0" y="12801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 i="0">
                <a:solidFill>
                  <a:srgbClr val="2E7D32"/>
                </a:solidFill>
                <a:latin typeface="Calibri"/>
              </a:defRPr>
            </a:pPr>
            <a:r>
              <a:t>Future Improvements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17920" y="1691640"/>
            <a:ext cx="5212080" cy="71323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17920" y="1691640"/>
            <a:ext cx="54864" cy="713232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400800" y="1856232"/>
            <a:ext cx="292608" cy="292608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9944" y="1856232"/>
            <a:ext cx="2926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i="0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0" y="1746504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2E7D32"/>
                </a:solidFill>
                <a:latin typeface="Calibri"/>
              </a:defRPr>
            </a:pPr>
            <a:r>
              <a:t>Semantic Embeddings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0" y="1746504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A5A6A"/>
                </a:solidFill>
                <a:latin typeface="Calibri"/>
              </a:defRPr>
            </a:pPr>
            <a:r>
              <a:t>Replace keyword sets with</a:t>
            </a:r>
            <a:br/>
            <a:r>
              <a:t>embedding-model similarity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17920" y="2560320"/>
            <a:ext cx="5212080" cy="71323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17920" y="2560320"/>
            <a:ext cx="54864" cy="713232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400800" y="2724912"/>
            <a:ext cx="292608" cy="292608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9944" y="2724912"/>
            <a:ext cx="2926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i="0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0" y="2615184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2E7D32"/>
                </a:solidFill>
                <a:latin typeface="Calibri"/>
              </a:defRPr>
            </a:pPr>
            <a:r>
              <a:t>Resume Parsing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0" y="2615184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A5A6A"/>
                </a:solidFill>
                <a:latin typeface="Calibri"/>
              </a:defRPr>
            </a:pPr>
            <a:r>
              <a:t>Upload PDF/Word resumes;</a:t>
            </a:r>
            <a:br/>
            <a:r>
              <a:t>LLM auto-extracts structure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17920" y="3429000"/>
            <a:ext cx="5212080" cy="71323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217920" y="3429000"/>
            <a:ext cx="54864" cy="713232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6400800" y="3593592"/>
            <a:ext cx="292608" cy="292608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09944" y="3593592"/>
            <a:ext cx="2926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i="0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58000" y="3483864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2E7D32"/>
                </a:solidFill>
                <a:latin typeface="Calibri"/>
              </a:defRPr>
            </a:pPr>
            <a:r>
              <a:t>Bidirectional Matching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86800" y="3483864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A5A6A"/>
                </a:solidFill>
                <a:latin typeface="Calibri"/>
              </a:defRPr>
            </a:pPr>
            <a:r>
              <a:t>Also recommend candidates</a:t>
            </a:r>
            <a:br/>
            <a:r>
              <a:t>for a given job posting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217920" y="4297679"/>
            <a:ext cx="5212080" cy="71323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217920" y="4297679"/>
            <a:ext cx="54864" cy="713232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6400800" y="4462271"/>
            <a:ext cx="292608" cy="292608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09944" y="4462271"/>
            <a:ext cx="2926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i="0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58000" y="4352543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2E7D32"/>
                </a:solidFill>
                <a:latin typeface="Calibri"/>
              </a:defRPr>
            </a:pPr>
            <a:r>
              <a:t>Reinforcement Learning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86800" y="4352543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A5A6A"/>
                </a:solidFill>
                <a:latin typeface="Calibri"/>
              </a:defRPr>
            </a:pPr>
            <a:r>
              <a:t>HR rates recommendations;</a:t>
            </a:r>
            <a:br/>
            <a:r>
              <a:t>weights auto-adjust via RL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217920" y="5166360"/>
            <a:ext cx="5212080" cy="71323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217920" y="5166360"/>
            <a:ext cx="54864" cy="713232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6400800" y="5330952"/>
            <a:ext cx="292608" cy="292608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09944" y="5330952"/>
            <a:ext cx="2926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i="0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858000" y="5221224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2E7D32"/>
                </a:solidFill>
                <a:latin typeface="Calibri"/>
              </a:defRPr>
            </a:pPr>
            <a:r>
              <a:t>Multi-Model Voting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686800" y="5221224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A5A6A"/>
                </a:solidFill>
                <a:latin typeface="Calibri"/>
              </a:defRPr>
            </a:pPr>
            <a:r>
              <a:t>Call multiple LLMs, aggregate</a:t>
            </a:r>
            <a:br/>
            <a:r>
              <a:t>for more reliable results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0F3DA8"/>
                </a:solidFill>
                <a:latin typeface="Calibri"/>
              </a:defRPr>
            </a:pPr>
            <a:r>
              <a:t>10.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4A5A6A"/>
                </a:solidFill>
                <a:latin typeface="Calibri"/>
              </a:defRPr>
            </a:pPr>
            <a:r>
              <a:t>Key takeaways from the project</a:t>
            </a:r>
          </a:p>
        </p:txBody>
      </p:sp>
      <p:pic>
        <p:nvPicPr>
          <p:cNvPr id="6" name="Picture 5" descr="d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182880"/>
            <a:ext cx="1668780" cy="4572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1">
                <a:solidFill>
                  <a:srgbClr val="6B7B8D"/>
                </a:solidFill>
                <a:latin typeface="Calibri"/>
              </a:defRPr>
            </a:pPr>
            <a:r>
              <a:t>Confidential – PAINDA MOHAMMAD FAYAZ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63550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B7B8D"/>
                </a:solidFill>
                <a:latin typeface="Calibri"/>
              </a:defRPr>
            </a:pPr>
            <a:r>
              <a:t>LLM-Assisted Intelligent Decision Application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355080"/>
            <a:ext cx="20418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 i="0">
                <a:solidFill>
                  <a:srgbClr val="6B7B8D"/>
                </a:solidFill>
                <a:latin typeface="Calibri"/>
              </a:defRPr>
            </a:pPr>
            <a:r>
              <a:t>12 / 13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1325880"/>
            <a:ext cx="10728655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1325880"/>
            <a:ext cx="64008" cy="13716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05840" y="1600200"/>
            <a:ext cx="502920" cy="502920"/>
          </a:xfrm>
          <a:prstGeom prst="round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1" y="1618488"/>
            <a:ext cx="47548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 i="0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143560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 i="0">
                <a:solidFill>
                  <a:srgbClr val="1A56DB"/>
                </a:solidFill>
                <a:latin typeface="Calibri"/>
              </a:defRPr>
            </a:pPr>
            <a:r>
              <a:t>Hybrid Architecture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178308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4A5A6A"/>
                </a:solidFill>
                <a:latin typeface="Calibri"/>
              </a:defRPr>
            </a:pPr>
            <a:r>
              <a:t>Rule-based scoring provides transparency and auditability;</a:t>
            </a:r>
            <a:br/>
            <a:r>
              <a:t>LLM adds semantic understanding and natural-language explanations.</a:t>
            </a:r>
            <a:br/>
            <a:r>
              <a:t>Neither alone is sufficient — the combination delivers the best results.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2926080"/>
            <a:ext cx="10728655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2926080"/>
            <a:ext cx="64008" cy="1371600"/>
          </a:xfrm>
          <a:prstGeom prst="rect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05840" y="3200400"/>
            <a:ext cx="502920" cy="502920"/>
          </a:xfrm>
          <a:prstGeom prst="roundRect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1" y="3218688"/>
            <a:ext cx="47548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 i="0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37360" y="303580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 i="0">
                <a:solidFill>
                  <a:srgbClr val="00897B"/>
                </a:solidFill>
                <a:latin typeface="Calibri"/>
              </a:defRPr>
            </a:pPr>
            <a:r>
              <a:t>Full-Stack Implementation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37360" y="338328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4A5A6A"/>
                </a:solidFill>
                <a:latin typeface="Calibri"/>
              </a:defRPr>
            </a:pPr>
            <a:r>
              <a:t>Complete pipeline from data input through analysis, visualization,</a:t>
            </a:r>
            <a:br/>
            <a:r>
              <a:t>and AI-powered recommendations. Two interfaces: Jupyter + Flask web app.</a:t>
            </a:r>
            <a:br/>
            <a:r>
              <a:t>All assignment requirements met with runnable, end-to-end code.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4526280"/>
            <a:ext cx="10728655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1520" y="4526280"/>
            <a:ext cx="64008" cy="137160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005840" y="4800600"/>
            <a:ext cx="502920" cy="502920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33271" y="4818888"/>
            <a:ext cx="47548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 i="0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37360" y="463600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 i="0">
                <a:solidFill>
                  <a:srgbClr val="2E7D32"/>
                </a:solidFill>
                <a:latin typeface="Calibri"/>
              </a:defRPr>
            </a:pPr>
            <a:r>
              <a:t>Practical LLM Usage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37360" y="498348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4A5A6A"/>
                </a:solidFill>
                <a:latin typeface="Calibri"/>
              </a:defRPr>
            </a:pPr>
            <a:r>
              <a:t>Claude is used across the full project lifecycle: design, coding,</a:t>
            </a:r>
            <a:br/>
            <a:r>
              <a:t>debugging, runtime analysis, and optimization. The runtime prompt</a:t>
            </a:r>
            <a:br/>
            <a:r>
              <a:t>is carefully engineered for structured, cost-effective output.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828800"/>
            <a:ext cx="12191695" cy="3474720"/>
          </a:xfrm>
          <a:prstGeom prst="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828800"/>
            <a:ext cx="12191695" cy="254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5303520"/>
            <a:ext cx="12191695" cy="254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0" y="365760"/>
            <a:ext cx="2169414" cy="594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14400" y="1051560"/>
            <a:ext cx="103628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 i="0">
                <a:solidFill>
                  <a:srgbClr val="1A56DB"/>
                </a:solidFill>
                <a:latin typeface="Calibri"/>
              </a:defRPr>
            </a:pPr>
            <a:r>
              <a:t>Dalian University of Technology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103628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 i="0">
                <a:solidFill>
                  <a:srgbClr val="0F3DA8"/>
                </a:solidFill>
                <a:latin typeface="Calibri"/>
              </a:defRPr>
            </a:pPr>
            <a:r>
              <a:t>Thank You!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926080"/>
            <a:ext cx="103628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 i="0">
                <a:solidFill>
                  <a:srgbClr val="4A5A6A"/>
                </a:solidFill>
                <a:latin typeface="Calibri"/>
              </a:defRPr>
            </a:pPr>
            <a:r>
              <a:t>Questions &amp; Discussion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0" y="3566160"/>
            <a:ext cx="2133295" cy="19050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0" y="3840480"/>
            <a:ext cx="48764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1A1A2E"/>
                </a:solidFill>
                <a:latin typeface="Calibri"/>
              </a:defRPr>
            </a:pPr>
            <a:r>
              <a:t>Student:  PAINDA MOHAMMAD FAYAZ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4224528"/>
            <a:ext cx="48764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1A1A2E"/>
                </a:solidFill>
                <a:latin typeface="Calibri"/>
              </a:defRPr>
            </a:pPr>
            <a:r>
              <a:t>Student ID:  22511204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4608576"/>
            <a:ext cx="48764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1A1A2E"/>
                </a:solidFill>
                <a:latin typeface="Calibri"/>
              </a:defRPr>
            </a:pPr>
            <a:r>
              <a:t>Course:  LLM-Assisted Intelligent Decision Application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4992624"/>
            <a:ext cx="48764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1A1A2E"/>
                </a:solidFill>
                <a:latin typeface="Calibri"/>
              </a:defRPr>
            </a:pPr>
            <a:r>
              <a:t>Email:  fayazpainda@mail.dlut.edu.cn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3550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1">
                <a:solidFill>
                  <a:srgbClr val="6B7B8D"/>
                </a:solidFill>
                <a:latin typeface="Calibri"/>
              </a:defRPr>
            </a:pPr>
            <a:r>
              <a:t>Confidential – PAINDA MOHAMMAD FAYAZ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63550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B7B8D"/>
                </a:solidFill>
                <a:latin typeface="Calibri"/>
              </a:defRPr>
            </a:pPr>
            <a:r>
              <a:t>LLM-Assisted Intelligent Decision Application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355080"/>
            <a:ext cx="20418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 i="0">
                <a:solidFill>
                  <a:srgbClr val="6B7B8D"/>
                </a:solidFill>
                <a:latin typeface="Calibri"/>
              </a:defRPr>
            </a:pPr>
            <a:r>
              <a:t>13 /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