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NOTES – Title Slide</a:t>
            </a:r>
          </a:p>
          <a:p/>
          <a:p>
            <a:r>
              <a:t>Good morning/afternoon, professors and classmates.</a:t>
            </a:r>
          </a:p>
          <a:p>
            <a:r>
              <a:t>My name is Painda Mohammad Fayaz, Student ID 22511204.</a:t>
            </a:r>
          </a:p>
          <a:p>
            <a:r>
              <a:t>Today I will present my final project for the LLM-Assisted Intelligent Decision Application course.</a:t>
            </a:r>
          </a:p>
          <a:p>
            <a:r>
              <a:t>My project is an LLM-Powered Intelligent Job Matching System that combines rule-based scoring with Qwen to help HR teams match candidates to job postings.</a:t>
            </a:r>
          </a:p>
          <a:p>
            <a:r>
              <a:t>The presentation will take approximately 10 minutes, followed by 5 minutes of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NOTES – Outline</a:t>
            </a:r>
          </a:p>
          <a:p/>
          <a:p>
            <a:r>
              <a:t>Here is the roadmap for today’s presentation.</a:t>
            </a:r>
          </a:p>
          <a:p>
            <a:r>
              <a:t>I will start with the problem background, explain the difficulties in current recruiting processes, then walk through my solution architecture including the scoring algorithm and LLM integration.</a:t>
            </a:r>
          </a:p>
          <a:p>
            <a:r>
              <a:t>After that, I’ll show a live demo and discuss results, limitations, and future improvements.</a:t>
            </a:r>
          </a:p>
          <a:p>
            <a:r>
              <a:t>Let’s begin with the problem background.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NOTES – Problem Background</a:t>
            </a:r>
          </a:p>
          <a:p/>
          <a:p>
            <a:r>
              <a:t>The scenario is straightforward: HR teams in tech companies receive hundreds of resumes and need to match them against open job postings.</a:t>
            </a:r>
          </a:p>
          <a:p>
            <a:r>
              <a:t>Currently, each resume takes 5–10 minutes to manually compare against job requirements.</a:t>
            </a:r>
          </a:p>
          <a:p>
            <a:r>
              <a:t>Our dataset covers 1,070 jobs across major tech companies like Google, Meta, Amazon, OpenAI, and Anthropic, with 153 candidate profiles spanning backend, frontend, AI/ML, and DevOps roles.</a:t>
            </a:r>
          </a:p>
          <a:p>
            <a:r>
              <a:t>The system scores candidates across 4 dimensions: skills, experience, education, and location.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NOTES – Current Difficulties</a:t>
            </a:r>
          </a:p>
          <a:p/>
          <a:p>
            <a:r>
              <a:t>There are four main pain points in traditional recruiting:</a:t>
            </a:r>
          </a:p>
          <a:p>
            <a:r>
              <a:t>1. Low efficiency – manual review takes 5–10 min per resume, doesn’t scale.</a:t>
            </a:r>
          </a:p>
          <a:p>
            <a:r>
              <a:t>2. Subjective scoring – different HR people, different criteria, inconsistent.</a:t>
            </a:r>
          </a:p>
          <a:p>
            <a:r>
              <a:t>3. Black-box rejections – ATS gives a score but no explanation.</a:t>
            </a:r>
          </a:p>
          <a:p>
            <a:r>
              <a:t>4. Multi-dimensional tradeoffs – skills, experience, education, location all matter differently per role.</a:t>
            </a:r>
          </a:p>
          <a:p>
            <a:r>
              <a:t>These problems motivate our hybrid rule + LLM approach.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NOTES – Solution Architecture</a:t>
            </a:r>
          </a:p>
          <a:p/>
          <a:p>
            <a:r>
              <a:t>Our solution uses a two-layer combination:</a:t>
            </a:r>
          </a:p>
          <a:p>
            <a:r>
              <a:t>Layer 1: Rule-based scoring computes a weighted composite across 4 dimensions.</a:t>
            </a:r>
          </a:p>
          <a:p>
            <a:r>
              <a:t>Layer 2: LLM (Qwen) generates natural-language explanations for the top match.</a:t>
            </a:r>
          </a:p>
          <a:p/>
          <a:p>
            <a:r>
              <a:t>Why not pure rules? Transparent but rigid — can’t understand semantic similarity.</a:t>
            </a:r>
          </a:p>
          <a:p>
            <a:r>
              <a:t>Why not pure LLM? Flexible but opaque, expensive, unreliable.</a:t>
            </a:r>
          </a:p>
          <a:p>
            <a:r>
              <a:t>Our hybrid gives auditable quantitative scores plus human-readable AI insights.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NOTES – Scoring Algorithm</a:t>
            </a:r>
          </a:p>
          <a:p/>
          <a:p>
            <a:r>
              <a:t>Each candidate–job pair is scored on four dimensions, normalized to 0–1:</a:t>
            </a:r>
          </a:p>
          <a:p/>
          <a:p>
            <a:r>
              <a:t>1. Skills Match (50%): hybrid score = exact keyword overlap, with a scikit-learn TF-IDF + cosine-similarity term filling the gap so related stacks earn partial credit.</a:t>
            </a:r>
          </a:p>
          <a:p>
            <a:r>
              <a:t>2. Experience (20%): full score if meets minimum years; proportional otherwise.</a:t>
            </a:r>
          </a:p>
          <a:p>
            <a:r>
              <a:t>3. Education (15%): maps degrees to numeric levels.</a:t>
            </a:r>
          </a:p>
          <a:p>
            <a:r>
              <a:t>4. Location (15%): exact=1.0, remote=0.7, different city=0.3.</a:t>
            </a:r>
          </a:p>
          <a:p/>
          <a:p>
            <a:r>
              <a:t>The 0.3 for location mismatch was suggested by Qwen to preserve remote options.</a:t>
            </a:r>
          </a:p>
          <a:p>
            <a:r>
              <a:t>All weights are user-adjustable and auto-normalized to sum to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NOTES – LLM Integration</a:t>
            </a:r>
          </a:p>
          <a:p/>
          <a:p>
            <a:r>
              <a:t>Qwen is used throughout the project lifecycle, not just at runtime:</a:t>
            </a:r>
          </a:p>
          <a:p>
            <a:r>
              <a:t>- Design: decomposed into input/analysis/display/recommendation modules</a:t>
            </a:r>
          </a:p>
          <a:p>
            <a:r>
              <a:t>- Code generation: ipywidgets UI and matplotlib charts</a:t>
            </a:r>
          </a:p>
          <a:p>
            <a:r>
              <a:t>- Debugging: font display, weight normalization, CSV parsing</a:t>
            </a:r>
          </a:p>
          <a:p>
            <a:r>
              <a:t>- Runtime core feature: natural-language match analysis</a:t>
            </a:r>
          </a:p>
          <a:p>
            <a:r>
              <a:t>- Optimization: suggested 0.3 location score</a:t>
            </a:r>
          </a:p>
          <a:p/>
          <a:p>
            <a:r>
              <a:t>The runtime prompt is carefully designed:</a:t>
            </a:r>
          </a:p>
          <a:p>
            <a:r>
              <a:t>- Role: ‘experienced HR consultant’</a:t>
            </a:r>
          </a:p>
          <a:p>
            <a:r>
              <a:t>- Structured 3-section output: highlights, gaps, recommendation</a:t>
            </a:r>
          </a:p>
          <a:p>
            <a:r>
              <a:t>- max_tokens=600 for cost control (~$0.15 total)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NOTES – Interactive Interface</a:t>
            </a:r>
          </a:p>
          <a:p/>
          <a:p>
            <a:r>
              <a:t>Two interfaces:</a:t>
            </a:r>
          </a:p>
          <a:p>
            <a:r>
              <a:t>1. Jupyter Notebook (primary): 9 interactive controls for candidate selection, weight adjustment, location filter, salary filter, and LLM toggle.</a:t>
            </a:r>
          </a:p>
          <a:p>
            <a:r>
              <a:t>2. Flask Web App (alternative): modern web UI on localhost:5000 with AJAX-powered real-time matching.</a:t>
            </a:r>
          </a:p>
          <a:p/>
          <a:p>
            <a:r>
              <a:t>Tech stack: Python (pandas, numpy, scikit-learn, matplotlib), Qwen (DashScope) API, ipywidgets + Flask.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NOTES – Live Demo Walkthrough</a:t>
            </a:r>
          </a:p>
          <a:p/>
          <a:p>
            <a:r>
              <a:t>6-step demo flow (3–4 minutes):</a:t>
            </a:r>
          </a:p>
          <a:p>
            <a:r>
              <a:t>1. Pick Alex Johnson – Python backend, 5 years.</a:t>
            </a:r>
          </a:p>
          <a:p>
            <a:r>
              <a:t>2. Default weights – Senior Python Backend Engineer at ~90 score.</a:t>
            </a:r>
          </a:p>
          <a:p>
            <a:r>
              <a:t>3. Raise Location weight – location-matched jobs rise.</a:t>
            </a:r>
          </a:p>
          <a:p>
            <a:r>
              <a:t>4. Filter to San Francisco – live filtering.</a:t>
            </a:r>
          </a:p>
          <a:p>
            <a:r>
              <a:t>5. Show Qwen analysis – highlights/gaps/recommendation.</a:t>
            </a:r>
          </a:p>
          <a:p>
            <a:r>
              <a:t>6. Switch to Harper Scott – top results change to LLM roles.</a:t>
            </a:r>
          </a:p>
          <a:p/>
          <a:p>
            <a:r>
              <a:t>This showcases scoring, weight adjustment, filtering, visualization, and LLM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NOTES – Results &amp; Capabilities</a:t>
            </a:r>
          </a:p>
          <a:p/>
          <a:p>
            <a:r>
              <a:t>To summarize, here is how the project maps to each official requirement.</a:t>
            </a:r>
          </a:p>
          <a:p>
            <a:r>
              <a:t>(Frame this as a recap, not self-grading.)</a:t>
            </a:r>
          </a:p>
          <a:p/>
          <a:p>
            <a:r>
              <a:t>Every requirement is met: complete input-&gt;analysis-&gt;display-&gt;recommendation pipeline, Python + Jupyter Notebook, all required libraries (pandas, matplotlib, scikit-learn, ipywidgets), all four modules with 9 interactive controls, fully runnable end-to-end, and a live LLM (Qwen) analysis I verified is working.</a:t>
            </a:r>
          </a:p>
          <a:p/>
          <a:p>
            <a:r>
              <a:t>Pause on the last row — the live Qwen call is the core deliverable and it runs in the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NOTES – Limitations &amp; Future Work</a:t>
            </a:r>
          </a:p>
          <a:p/>
          <a:p>
            <a:r>
              <a:t>Limitations:</a:t>
            </a:r>
          </a:p>
          <a:p>
            <a:r>
              <a:t>1. Term matching – TF-IDF gives partial credit but not true synonyms (React ≈ Vue). Solution: embeddings.</a:t>
            </a:r>
          </a:p>
          <a:p>
            <a:r>
              <a:t>2. Synthetic sample – 1,070 jobs, 153 candidates, all generated. Needs real databases.</a:t>
            </a:r>
          </a:p>
          <a:p>
            <a:r>
              <a:t>3. LLM latency – 2–5 sec per call. Could cache common combinations.</a:t>
            </a:r>
          </a:p>
          <a:p>
            <a:r>
              <a:t>4. No learning loop – doesn’t improve from HR feedback.</a:t>
            </a:r>
          </a:p>
          <a:p/>
          <a:p>
            <a:r>
              <a:t>Future work: semantic embeddings, resume parsing, bidirectional matching, RL from feedback, multi-model voting.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NOTES – Summary</a:t>
            </a:r>
          </a:p>
          <a:p/>
          <a:p>
            <a:r>
              <a:t>Three key takeaways:</a:t>
            </a:r>
          </a:p>
          <a:p/>
          <a:p>
            <a:r>
              <a:t>1. Hybrid rule + LLM architecture is the right approach for decision-support. Rules give auditability; LLM gives semantic understanding.</a:t>
            </a:r>
          </a:p>
          <a:p/>
          <a:p>
            <a:r>
              <a:t>2. Full-stack implementation covering data input, analysis, visualization, and AI recommendations with Jupyter and web interfaces.</a:t>
            </a:r>
          </a:p>
          <a:p/>
          <a:p>
            <a:r>
              <a:t>3. LLM used throughout the entire lifecycle — design through optimization. Runtime prompt engineered for structured output.</a:t>
            </a:r>
          </a:p>
          <a:p/>
          <a:p>
            <a:r>
              <a:t>Thank you for your attention. I’m happy to answer any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NOTES – Thank You &amp; Q&amp;A</a:t>
            </a:r>
          </a:p>
          <a:p/>
          <a:p>
            <a:r>
              <a:t>Thank you for your attention!</a:t>
            </a:r>
          </a:p>
          <a:p>
            <a:r>
              <a:t>I’m happy to answer any questions about the system architecture, the scoring algorithm, the LLM integration, or the demo.</a:t>
            </a:r>
          </a:p>
          <a:p/>
          <a:p>
            <a:r>
              <a:t>To try the system:</a:t>
            </a:r>
          </a:p>
          <a:p>
            <a:r>
              <a:t>1. Clone the project folder</a:t>
            </a:r>
          </a:p>
          <a:p>
            <a:r>
              <a:t>2. pip install -r requirements.txt</a:t>
            </a:r>
          </a:p>
          <a:p>
            <a:r>
              <a:t>3. Add your DashScope API key to .env</a:t>
            </a:r>
          </a:p>
          <a:p>
            <a:r>
              <a:t>4. jupyter notebook job_matching.ipynb</a:t>
            </a:r>
          </a:p>
          <a:p>
            <a:r>
              <a:t>5. Or: python app.py (web interface at localhost:5000)</a:t>
            </a:r>
          </a:p>
          <a:p/>
          <a:p>
            <a:r>
              <a:t>Contact: fayazpainda@mail.dlut.edu.cn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0"/>
            <a:ext cx="12191695" cy="3291840"/>
          </a:xfrm>
          <a:prstGeom prst="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828800"/>
            <a:ext cx="12191695" cy="2540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120640"/>
            <a:ext cx="12191695" cy="2540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ut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3962" y="320040"/>
            <a:ext cx="2423770" cy="640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105156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1A56DB"/>
                </a:solidFill>
                <a:latin typeface="Calibri"/>
              </a:defRPr>
            </a:pPr>
            <a:r>
              <a:t>Dalian University of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0F3DA8"/>
                </a:solidFill>
                <a:latin typeface="Calibri"/>
              </a:defRPr>
            </a:pPr>
            <a:r>
              <a:t>LLM-Powered Intelligent Job Matching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4A5A6A"/>
                </a:solidFill>
                <a:latin typeface="Calibri"/>
              </a:defRPr>
            </a:pPr>
            <a:r>
              <a:t>Final Project  —  LLM-Assisted Intelligent Decision 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10362895" cy="36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" b="0" i="0">
                <a:solidFill>
                  <a:srgbClr val="1A1A2E"/>
                </a:solidFill>
                <a:latin typeface="Calibri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5029200" y="3931920"/>
            <a:ext cx="2133295" cy="1905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062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1A1A2E"/>
                </a:solidFill>
                <a:latin typeface="Calibri"/>
              </a:defRPr>
            </a:pPr>
            <a:r>
              <a:t>Presented by:  PAINDA MOHAMMAD FAYAZ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66344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0">
                <a:solidFill>
                  <a:srgbClr val="4A5A6A"/>
                </a:solidFill>
                <a:latin typeface="Calibri"/>
              </a:defRPr>
            </a:pPr>
            <a:r>
              <a:t>Student ID: 22511204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9496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6B7B8D"/>
                </a:solidFill>
                <a:latin typeface="Calibri"/>
              </a:defRPr>
            </a:pPr>
            <a:r>
              <a:t>June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6B7B8D"/>
                </a:solidFill>
                <a:latin typeface="Calibri"/>
              </a:defRPr>
            </a:pPr>
            <a:r>
              <a:t>Confidential – PAINDA MOHAMMAD FAYAZ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B7B8D"/>
                </a:solidFill>
                <a:latin typeface="Calibri"/>
              </a:defRPr>
            </a:pPr>
            <a:r>
              <a:t>LLM-Assisted Intelligent Decision Application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F3DA8"/>
                </a:solidFill>
                <a:latin typeface="Calibri"/>
              </a:defRPr>
            </a:pPr>
            <a:r>
              <a:t>Presentation Outline</a:t>
            </a:r>
          </a:p>
        </p:txBody>
      </p:sp>
      <p:pic>
        <p:nvPicPr>
          <p:cNvPr id="5" name="Picture 4" descr="dut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1673" y="292608"/>
            <a:ext cx="1454262" cy="38404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6B7B8D"/>
                </a:solidFill>
                <a:latin typeface="Calibri"/>
              </a:defRPr>
            </a:pPr>
            <a:r>
              <a:t>Confidential – PAINDA MOHAMMAD FAYAZ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355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B7B8D"/>
                </a:solidFill>
                <a:latin typeface="Calibri"/>
              </a:defRPr>
            </a:pPr>
            <a:r>
              <a:t>LLM-Assisted Intelligent Decision 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55080"/>
            <a:ext cx="2041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6B7B8D"/>
                </a:solidFill>
                <a:latin typeface="Calibri"/>
              </a:defRPr>
            </a:pPr>
            <a:r>
              <a:t>2 / 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99032"/>
            <a:ext cx="457200" cy="457200"/>
          </a:xfrm>
          <a:prstGeom prst="round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4356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13716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1A1A2E"/>
                </a:solidFill>
                <a:latin typeface="Calibri"/>
              </a:defRPr>
            </a:pPr>
            <a:r>
              <a:t>Problem Background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164592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7B8D"/>
                </a:solidFill>
                <a:latin typeface="Calibri"/>
              </a:defRPr>
            </a:pPr>
            <a:r>
              <a:t>Why job matching matters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399032"/>
            <a:ext cx="457200" cy="457200"/>
          </a:xfrm>
          <a:prstGeom prst="round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14356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13716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1A1A2E"/>
                </a:solidFill>
                <a:latin typeface="Calibri"/>
              </a:defRPr>
            </a:pPr>
            <a:r>
              <a:t>Current Difficulties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164592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7B8D"/>
                </a:solidFill>
                <a:latin typeface="Calibri"/>
              </a:defRPr>
            </a:pPr>
            <a:r>
              <a:t>Pain points in traditional recruiting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359152"/>
            <a:ext cx="457200" cy="457200"/>
          </a:xfrm>
          <a:prstGeom prst="round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23957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3317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1A1A2E"/>
                </a:solidFill>
                <a:latin typeface="Calibri"/>
              </a:defRPr>
            </a:pPr>
            <a:r>
              <a:t>Solution Architecture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260604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7B8D"/>
                </a:solidFill>
                <a:latin typeface="Calibri"/>
              </a:defRPr>
            </a:pPr>
            <a:r>
              <a:t>Rule-based + LLM hybrid approach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2359152"/>
            <a:ext cx="457200" cy="457200"/>
          </a:xfrm>
          <a:prstGeom prst="round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2" y="23957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23317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1A1A2E"/>
                </a:solidFill>
                <a:latin typeface="Calibri"/>
              </a:defRPr>
            </a:pPr>
            <a:r>
              <a:t>Scoring Algorithm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260604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7B8D"/>
                </a:solidFill>
                <a:latin typeface="Calibri"/>
              </a:defRPr>
            </a:pPr>
            <a:r>
              <a:t>Four-dimension weighted matching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319272"/>
            <a:ext cx="457200" cy="457200"/>
          </a:xfrm>
          <a:prstGeom prst="round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" y="33558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32918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1A1A2E"/>
                </a:solidFill>
                <a:latin typeface="Calibri"/>
              </a:defRPr>
            </a:pPr>
            <a:r>
              <a:t>LLM Integration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356616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7B8D"/>
                </a:solidFill>
                <a:latin typeface="Calibri"/>
              </a:defRPr>
            </a:pPr>
            <a:r>
              <a:t>How Qwen enhances the system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3319272"/>
            <a:ext cx="457200" cy="457200"/>
          </a:xfrm>
          <a:prstGeom prst="round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8232" y="33558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32918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1A1A2E"/>
                </a:solidFill>
                <a:latin typeface="Calibri"/>
              </a:defRPr>
            </a:pPr>
            <a:r>
              <a:t>Interactive Interface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60" y="356616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7B8D"/>
                </a:solidFill>
                <a:latin typeface="Calibri"/>
              </a:defRPr>
            </a:pPr>
            <a:r>
              <a:t>Jupyter widgets &amp; Flask web app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4279392"/>
            <a:ext cx="457200" cy="457200"/>
          </a:xfrm>
          <a:prstGeom prst="round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8952" y="431596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25880" y="42519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1A1A2E"/>
                </a:solidFill>
                <a:latin typeface="Calibri"/>
              </a:defRPr>
            </a:pPr>
            <a:r>
              <a:t>Live Demo Walkthrough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25880" y="452628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7B8D"/>
                </a:solidFill>
                <a:latin typeface="Calibri"/>
              </a:defRPr>
            </a:pPr>
            <a:r>
              <a:t>End-to-end demonstration flow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4279392"/>
            <a:ext cx="457200" cy="457200"/>
          </a:xfrm>
          <a:prstGeom prst="round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28232" y="431596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95160" y="42519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1A1A2E"/>
                </a:solidFill>
                <a:latin typeface="Calibri"/>
              </a:defRPr>
            </a:pPr>
            <a:r>
              <a:t>Results &amp; Capabilities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95160" y="452628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7B8D"/>
                </a:solidFill>
                <a:latin typeface="Calibri"/>
              </a:defRPr>
            </a:pPr>
            <a:r>
              <a:t>What the system achieves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5239512"/>
            <a:ext cx="457200" cy="457200"/>
          </a:xfrm>
          <a:prstGeom prst="round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8952" y="527608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25880" y="52120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1A1A2E"/>
                </a:solidFill>
                <a:latin typeface="Calibri"/>
              </a:defRPr>
            </a:pPr>
            <a:r>
              <a:t>Limitations &amp; Future Work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25880" y="548640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7B8D"/>
                </a:solidFill>
                <a:latin typeface="Calibri"/>
              </a:defRPr>
            </a:pPr>
            <a:r>
              <a:t>Known gaps and roadmap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0" y="5239512"/>
            <a:ext cx="457200" cy="457200"/>
          </a:xfrm>
          <a:prstGeom prst="round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28232" y="527608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95160" y="52120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1A1A2E"/>
                </a:solidFill>
                <a:latin typeface="Calibri"/>
              </a:defRPr>
            </a:pPr>
            <a:r>
              <a:t>Summary &amp; Q&amp;A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95160" y="548640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7B8D"/>
                </a:solidFill>
                <a:latin typeface="Calibri"/>
              </a:defRPr>
            </a:pPr>
            <a:r>
              <a:t>Key takeaways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F3DA8"/>
                </a:solidFill>
                <a:latin typeface="Calibri"/>
              </a:defRPr>
            </a:pPr>
            <a:r>
              <a:t>1. Problem 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4A5A6A"/>
                </a:solidFill>
                <a:latin typeface="Calibri"/>
              </a:defRPr>
            </a:pPr>
            <a:r>
              <a:t>Why intelligent job matching matters</a:t>
            </a:r>
          </a:p>
        </p:txBody>
      </p:sp>
      <p:pic>
        <p:nvPicPr>
          <p:cNvPr id="6" name="Picture 5" descr="dut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1673" y="292608"/>
            <a:ext cx="1454262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6B7B8D"/>
                </a:solidFill>
                <a:latin typeface="Calibri"/>
              </a:defRPr>
            </a:pPr>
            <a:r>
              <a:t>Confidential – PAINDA MOHAMMAD FAYAZ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6355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B7B8D"/>
                </a:solidFill>
                <a:latin typeface="Calibri"/>
              </a:defRPr>
            </a:pPr>
            <a:r>
              <a:t>LLM-Assisted Intelligent Decision 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355080"/>
            <a:ext cx="2041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6B7B8D"/>
                </a:solidFill>
                <a:latin typeface="Calibri"/>
              </a:defRPr>
            </a:pPr>
            <a:r>
              <a:t>3 /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3258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F3DA8"/>
                </a:solidFill>
                <a:latin typeface="Calibri"/>
              </a:defRPr>
            </a:pPr>
            <a:r>
              <a:t>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737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4A5A6A"/>
                </a:solidFill>
                <a:latin typeface="Calibri"/>
              </a:defRPr>
            </a:pPr>
            <a:r>
              <a:t>HR teams in tech companies need to match candidates to job postings for campus and social recruiting. The process is manual, time-consuming, and often inconsistent across different recruiters.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743200"/>
            <a:ext cx="338328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743200"/>
            <a:ext cx="54864" cy="137160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85292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A56DB"/>
                </a:solidFill>
                <a:latin typeface="Calibri"/>
              </a:defRPr>
            </a:pPr>
            <a:r>
              <a:t>Target Users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2004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4A5A6A"/>
                </a:solidFill>
                <a:latin typeface="Calibri"/>
              </a:defRPr>
            </a:pPr>
            <a:r>
              <a:t>• HR teams &amp; recruiters</a:t>
            </a:r>
          </a:p>
          <a:p>
            <a:pPr>
              <a:spcAft>
                <a:spcPts val="400"/>
              </a:spcAft>
              <a:defRPr sz="1200">
                <a:solidFill>
                  <a:srgbClr val="4A5A6A"/>
                </a:solidFill>
                <a:latin typeface="Calibri"/>
              </a:defRPr>
            </a:pPr>
            <a:r>
              <a:t>• Job seekers &amp; candidates</a:t>
            </a:r>
          </a:p>
          <a:p>
            <a:pPr>
              <a:spcAft>
                <a:spcPts val="400"/>
              </a:spcAft>
              <a:defRPr sz="1200">
                <a:solidFill>
                  <a:srgbClr val="4A5A6A"/>
                </a:solidFill>
                <a:latin typeface="Calibri"/>
              </a:defRPr>
            </a:pPr>
            <a:r>
              <a:t>• Recruiting platforms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2743200"/>
            <a:ext cx="338328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0" y="2743200"/>
            <a:ext cx="54864" cy="13716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20" y="285292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0897B"/>
                </a:solidFill>
                <a:latin typeface="Calibri"/>
              </a:defRPr>
            </a:pPr>
            <a:r>
              <a:t>Project Goal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32004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4A5A6A"/>
                </a:solidFill>
                <a:latin typeface="Calibri"/>
              </a:defRPr>
            </a:pPr>
            <a:r>
              <a:t>• Sortable, explainable matches</a:t>
            </a:r>
          </a:p>
          <a:p>
            <a:pPr>
              <a:spcAft>
                <a:spcPts val="400"/>
              </a:spcAft>
              <a:defRPr sz="1200">
                <a:solidFill>
                  <a:srgbClr val="4A5A6A"/>
                </a:solidFill>
                <a:latin typeface="Calibri"/>
              </a:defRPr>
            </a:pPr>
            <a:r>
              <a:t>• Multi-dimensional scoring</a:t>
            </a:r>
          </a:p>
          <a:p>
            <a:pPr>
              <a:spcAft>
                <a:spcPts val="400"/>
              </a:spcAft>
              <a:defRPr sz="1200">
                <a:solidFill>
                  <a:srgbClr val="4A5A6A"/>
                </a:solidFill>
                <a:latin typeface="Calibri"/>
              </a:defRPr>
            </a:pPr>
            <a:r>
              <a:t>• AI-powered recommendations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2743200"/>
            <a:ext cx="338328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20" y="2743200"/>
            <a:ext cx="54864" cy="1371600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285292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E69F00"/>
                </a:solidFill>
                <a:latin typeface="Calibri"/>
              </a:defRPr>
            </a:pPr>
            <a:r>
              <a:t>Data Scale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32004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4A5A6A"/>
                </a:solidFill>
                <a:latin typeface="Calibri"/>
              </a:defRPr>
            </a:pPr>
            <a:r>
              <a:t>• 1,070 job postings (LinkedIn-style)</a:t>
            </a:r>
          </a:p>
          <a:p>
            <a:pPr>
              <a:spcAft>
                <a:spcPts val="400"/>
              </a:spcAft>
              <a:defRPr sz="1200">
                <a:solidFill>
                  <a:srgbClr val="4A5A6A"/>
                </a:solidFill>
                <a:latin typeface="Calibri"/>
              </a:defRPr>
            </a:pPr>
            <a:r>
              <a:t>• 153 candidate profiles</a:t>
            </a:r>
          </a:p>
          <a:p>
            <a:pPr>
              <a:spcAft>
                <a:spcPts val="400"/>
              </a:spcAft>
              <a:defRPr sz="1200">
                <a:solidFill>
                  <a:srgbClr val="4A5A6A"/>
                </a:solidFill>
                <a:latin typeface="Calibri"/>
              </a:defRPr>
            </a:pPr>
            <a:r>
              <a:t>• 15+ tech categories covered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572000"/>
            <a:ext cx="10728655" cy="1280160"/>
          </a:xfrm>
          <a:prstGeom prst="roundRect">
            <a:avLst/>
          </a:prstGeom>
          <a:solidFill>
            <a:srgbClr val="E8F0FE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663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0F3DA8"/>
                </a:solidFill>
                <a:latin typeface="Calibri"/>
              </a:defRPr>
            </a:pPr>
            <a:r>
              <a:t>5–10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029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4A5A6A"/>
                </a:solidFill>
                <a:latin typeface="Calibri"/>
              </a:defRPr>
            </a:pPr>
            <a:r>
              <a:t>Per resume review</a:t>
            </a:r>
            <a:br/>
            <a:r>
              <a:t>(manual process)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4663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0F3DA8"/>
                </a:solidFill>
                <a:latin typeface="Calibri"/>
              </a:defRPr>
            </a:pPr>
            <a:r>
              <a:t>77 Jobs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5029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4A5A6A"/>
                </a:solidFill>
                <a:latin typeface="Calibri"/>
              </a:defRPr>
            </a:pPr>
            <a:r>
              <a:t>Across 10 US cities</a:t>
            </a:r>
            <a:br/>
            <a:r>
              <a:t>&amp; remote positions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663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0F3DA8"/>
                </a:solidFill>
                <a:latin typeface="Calibri"/>
              </a:defRPr>
            </a:pPr>
            <a:r>
              <a:t>26 Candidates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5029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4A5A6A"/>
                </a:solidFill>
                <a:latin typeface="Calibri"/>
              </a:defRPr>
            </a:pPr>
            <a:r>
              <a:t>Backend, Frontend,</a:t>
            </a:r>
            <a:br/>
            <a:r>
              <a:t>AI/ML, DevOps, etc.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4663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0F3DA8"/>
                </a:solidFill>
                <a:latin typeface="Calibri"/>
              </a:defRPr>
            </a:pPr>
            <a:r>
              <a:t>4 Dimensions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5029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4A5A6A"/>
                </a:solidFill>
                <a:latin typeface="Calibri"/>
              </a:defRPr>
            </a:pPr>
            <a:r>
              <a:t>Skills, Experience,</a:t>
            </a:r>
            <a:br/>
            <a:r>
              <a:t>Education, Location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F3DA8"/>
                </a:solidFill>
                <a:latin typeface="Calibri"/>
              </a:defRPr>
            </a:pPr>
            <a:r>
              <a:t>2. Current Difficulties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4A5A6A"/>
                </a:solidFill>
                <a:latin typeface="Calibri"/>
              </a:defRPr>
            </a:pPr>
            <a:r>
              <a:t>Pain points in traditional recruiting workflows</a:t>
            </a:r>
          </a:p>
        </p:txBody>
      </p:sp>
      <p:pic>
        <p:nvPicPr>
          <p:cNvPr id="6" name="Picture 5" descr="dut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1673" y="292608"/>
            <a:ext cx="1454262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6B7B8D"/>
                </a:solidFill>
                <a:latin typeface="Calibri"/>
              </a:defRPr>
            </a:pPr>
            <a:r>
              <a:t>Confidential – PAINDA MOHAMMAD FAYAZ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6355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B7B8D"/>
                </a:solidFill>
                <a:latin typeface="Calibri"/>
              </a:defRPr>
            </a:pPr>
            <a:r>
              <a:t>LLM-Assisted Intelligent Decision 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355080"/>
            <a:ext cx="2041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6B7B8D"/>
                </a:solidFill>
                <a:latin typeface="Calibri"/>
              </a:defRPr>
            </a:pPr>
            <a:r>
              <a:t>4 / 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371600"/>
            <a:ext cx="530352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1371600"/>
            <a:ext cx="64008" cy="21031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05840" y="1645920"/>
            <a:ext cx="457200" cy="457200"/>
          </a:xfrm>
          <a:prstGeom prst="round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166420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164592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C62828"/>
                </a:solidFill>
                <a:latin typeface="Calibri"/>
              </a:defRPr>
            </a:pPr>
            <a:r>
              <a:t>Low Efficiency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2103120"/>
            <a:ext cx="4023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4A5A6A"/>
                </a:solidFill>
                <a:latin typeface="Calibri"/>
              </a:defRPr>
            </a:pPr>
            <a:r>
              <a:t>HR spends 5–10 minutes per resume manually comparing qualifications to job requirements. This does not scale.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371600"/>
            <a:ext cx="530352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371600"/>
            <a:ext cx="64008" cy="2103120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75120" y="1645920"/>
            <a:ext cx="457200" cy="457200"/>
          </a:xfrm>
          <a:prstGeom prst="round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02552" y="166420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164592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E65C00"/>
                </a:solidFill>
                <a:latin typeface="Calibri"/>
              </a:defRPr>
            </a:pPr>
            <a:r>
              <a:t>Subjective Scoring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2103120"/>
            <a:ext cx="4023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4A5A6A"/>
                </a:solidFill>
                <a:latin typeface="Calibri"/>
              </a:defRPr>
            </a:pPr>
            <a:r>
              <a:t>Different recruiters apply different criteria. Results are inconsistent and hard to quantify or audit.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794760"/>
            <a:ext cx="530352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3794760"/>
            <a:ext cx="64008" cy="2103120"/>
          </a:xfrm>
          <a:prstGeom prst="rect">
            <a:avLst/>
          </a:prstGeom>
          <a:solidFill>
            <a:srgbClr val="0F3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05840" y="4069080"/>
            <a:ext cx="457200" cy="457200"/>
          </a:xfrm>
          <a:prstGeom prst="roundRect">
            <a:avLst/>
          </a:prstGeom>
          <a:solidFill>
            <a:srgbClr val="0F3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3272" y="408736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406908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F3DA8"/>
                </a:solidFill>
                <a:latin typeface="Calibri"/>
              </a:defRPr>
            </a:pPr>
            <a:r>
              <a:t>Black-Box Rejections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4526280"/>
            <a:ext cx="4023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4A5A6A"/>
                </a:solidFill>
                <a:latin typeface="Calibri"/>
              </a:defRPr>
            </a:pPr>
            <a:r>
              <a:t>Traditional ATS systems produce a single score with no explanation — candidates never learn why they were rejected.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794760"/>
            <a:ext cx="530352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0" y="3794760"/>
            <a:ext cx="64008" cy="210312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675120" y="4069080"/>
            <a:ext cx="457200" cy="457200"/>
          </a:xfrm>
          <a:prstGeom prst="round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02552" y="408736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406908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0897B"/>
                </a:solidFill>
                <a:latin typeface="Calibri"/>
              </a:defRPr>
            </a:pPr>
            <a:r>
              <a:t>Multi-Dimensional Tradeoffs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4526280"/>
            <a:ext cx="4023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4A5A6A"/>
                </a:solidFill>
                <a:latin typeface="Calibri"/>
              </a:defRPr>
            </a:pPr>
            <a:r>
              <a:t>Skills, experience, education, location, and salary all matter, but the weights differ per role and per company.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F3DA8"/>
                </a:solidFill>
                <a:latin typeface="Calibri"/>
              </a:defRPr>
            </a:pPr>
            <a:r>
              <a:t>3. Solution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4A5A6A"/>
                </a:solidFill>
                <a:latin typeface="Calibri"/>
              </a:defRPr>
            </a:pPr>
            <a:r>
              <a:t>Two-layer hybrid: Rule-Based Scoring + LLM Explanation</a:t>
            </a:r>
          </a:p>
        </p:txBody>
      </p:sp>
      <p:pic>
        <p:nvPicPr>
          <p:cNvPr id="6" name="Picture 5" descr="dut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1673" y="292608"/>
            <a:ext cx="1454262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6B7B8D"/>
                </a:solidFill>
                <a:latin typeface="Calibri"/>
              </a:defRPr>
            </a:pPr>
            <a:r>
              <a:t>Confidential – PAINDA MOHAMMAD FAYAZ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6355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B7B8D"/>
                </a:solidFill>
                <a:latin typeface="Calibri"/>
              </a:defRPr>
            </a:pPr>
            <a:r>
              <a:t>LLM-Assisted Intelligent Decision 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355080"/>
            <a:ext cx="2041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6B7B8D"/>
                </a:solidFill>
                <a:latin typeface="Calibri"/>
              </a:defRPr>
            </a:pPr>
            <a:r>
              <a:t>5 / 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417320"/>
            <a:ext cx="2286000" cy="1554480"/>
          </a:xfrm>
          <a:prstGeom prst="round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508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 i="0">
                <a:solidFill>
                  <a:srgbClr val="FFFFFF"/>
                </a:solidFill>
                <a:latin typeface="Calibri"/>
              </a:defRPr>
            </a:pPr>
            <a:r>
              <a:t>Data 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9659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CSV / UI</a:t>
            </a:r>
            <a:br/>
            <a:r>
              <a:t>Selection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1828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1A56DB"/>
                </a:solidFill>
                <a:latin typeface="Calibri"/>
              </a:defRPr>
            </a:pPr>
            <a:r>
              <a:t>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40" y="1417320"/>
            <a:ext cx="2286000" cy="1554480"/>
          </a:xfrm>
          <a:prstGeom prst="round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1880" y="1508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 i="0">
                <a:solidFill>
                  <a:srgbClr val="FFFFFF"/>
                </a:solidFill>
                <a:latin typeface="Calibri"/>
              </a:defRPr>
            </a:pPr>
            <a:r>
              <a:t>Rule Scoring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19659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4-Dimension</a:t>
            </a:r>
            <a:br/>
            <a:r>
              <a:t>Weighted 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1828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1A56DB"/>
                </a:solidFill>
                <a:latin typeface="Calibri"/>
              </a:defRPr>
            </a:pPr>
            <a:r>
              <a:t>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1417320"/>
            <a:ext cx="2286000" cy="155448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508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 i="0">
                <a:solidFill>
                  <a:srgbClr val="FFFFFF"/>
                </a:solidFill>
                <a:latin typeface="Calibri"/>
              </a:defRPr>
            </a:pPr>
            <a:r>
              <a:t>Sort &amp; Display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19659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Table + Charts</a:t>
            </a:r>
            <a:br/>
            <a:r>
              <a:t>+ Heatmap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1828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1A56DB"/>
                </a:solidFill>
                <a:latin typeface="Calibri"/>
              </a:defRPr>
            </a:pPr>
            <a:r>
              <a:t>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64040" y="1417320"/>
            <a:ext cx="2286000" cy="1554480"/>
          </a:xfrm>
          <a:prstGeom prst="round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55480" y="1508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 i="0">
                <a:solidFill>
                  <a:srgbClr val="FFFFFF"/>
                </a:solidFill>
                <a:latin typeface="Calibri"/>
              </a:defRPr>
            </a:pPr>
            <a:r>
              <a:t>LLM Explain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5480" y="19659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Qwen Analysis</a:t>
            </a:r>
            <a:br/>
            <a:r>
              <a:t>&amp; Advice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291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F3DA8"/>
                </a:solidFill>
                <a:latin typeface="Calibri"/>
              </a:defRPr>
            </a:pPr>
            <a:r>
              <a:t>Why This Design?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3749039"/>
            <a:ext cx="347472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" y="3749039"/>
            <a:ext cx="3474720" cy="5080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39319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 i="0">
                <a:solidFill>
                  <a:srgbClr val="1A56DB"/>
                </a:solidFill>
                <a:latin typeface="Calibri"/>
              </a:defRPr>
            </a:pPr>
            <a:r>
              <a:t>Pure Rules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43891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4A5A6A"/>
                </a:solidFill>
                <a:latin typeface="Calibri"/>
              </a:defRPr>
            </a:pPr>
            <a:r>
              <a:t>Transparent &amp; auditable</a:t>
            </a:r>
            <a:br/>
            <a:r>
              <a:t>but rigid, no semantics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80559" y="3749039"/>
            <a:ext cx="347472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80559" y="3749039"/>
            <a:ext cx="3474720" cy="50800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79" y="39319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 i="0">
                <a:solidFill>
                  <a:srgbClr val="E65C00"/>
                </a:solidFill>
                <a:latin typeface="Calibri"/>
              </a:defRPr>
            </a:pPr>
            <a:r>
              <a:t>Pure LLM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79" y="43891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4A5A6A"/>
                </a:solidFill>
                <a:latin typeface="Calibri"/>
              </a:defRPr>
            </a:pPr>
            <a:r>
              <a:t>Flexible &amp; contextual</a:t>
            </a:r>
            <a:br/>
            <a:r>
              <a:t>but opaque, expensive, unreliable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0" y="3749039"/>
            <a:ext cx="347472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29600" y="3749039"/>
            <a:ext cx="3474720" cy="508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03920" y="39319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 i="0">
                <a:solidFill>
                  <a:srgbClr val="2E7D32"/>
                </a:solidFill>
                <a:latin typeface="Calibri"/>
              </a:defRPr>
            </a:pPr>
            <a:r>
              <a:t>Our Hybrid  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43891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4A5A6A"/>
                </a:solidFill>
                <a:latin typeface="Calibri"/>
              </a:defRPr>
            </a:pPr>
            <a:r>
              <a:t>Rules provide auditable scores;</a:t>
            </a:r>
            <a:br/>
            <a:r>
              <a:t>LLM adds semantic explanation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F3DA8"/>
                </a:solidFill>
                <a:latin typeface="Calibri"/>
              </a:defRPr>
            </a:pPr>
            <a:r>
              <a:t>4. Scoring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4A5A6A"/>
                </a:solidFill>
                <a:latin typeface="Calibri"/>
              </a:defRPr>
            </a:pPr>
            <a:r>
              <a:t>Four-dimension weighted matching with adjustable parameters</a:t>
            </a:r>
          </a:p>
        </p:txBody>
      </p:sp>
      <p:pic>
        <p:nvPicPr>
          <p:cNvPr id="6" name="Picture 5" descr="dut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1673" y="292608"/>
            <a:ext cx="1454262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6B7B8D"/>
                </a:solidFill>
                <a:latin typeface="Calibri"/>
              </a:defRPr>
            </a:pPr>
            <a:r>
              <a:t>Confidential – PAINDA MOHAMMAD FAYAZ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6355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B7B8D"/>
                </a:solidFill>
                <a:latin typeface="Calibri"/>
              </a:defRPr>
            </a:pPr>
            <a:r>
              <a:t>LLM-Assisted Intelligent Decision 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355080"/>
            <a:ext cx="2041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6B7B8D"/>
                </a:solidFill>
                <a:latin typeface="Calibri"/>
              </a:defRPr>
            </a:pPr>
            <a:r>
              <a:t>6 / 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325880"/>
            <a:ext cx="2697480" cy="4663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325880"/>
            <a:ext cx="2697480" cy="7772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39903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 i="0">
                <a:solidFill>
                  <a:srgbClr val="FFFFFF"/>
                </a:solidFill>
                <a:latin typeface="Calibri"/>
              </a:defRPr>
            </a:pPr>
            <a:r>
              <a:t>Skills Match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709928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E8F5E9"/>
                </a:solidFill>
                <a:latin typeface="Calibri"/>
              </a:defRPr>
            </a:pPr>
            <a:r>
              <a:t>Default weight: 50%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28600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A56DB"/>
                </a:solidFill>
                <a:latin typeface="Calibri"/>
              </a:defRPr>
            </a:pPr>
            <a:r>
              <a:t>Formula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560320"/>
            <a:ext cx="2468880" cy="1143000"/>
          </a:xfrm>
          <a:prstGeom prst="round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2624328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1A1A2E"/>
                </a:solidFill>
                <a:latin typeface="Calibri"/>
              </a:defRPr>
            </a:pPr>
            <a:r>
              <a:t>keyword overlap + TF-IDF</a:t>
            </a:r>
            <a:br/>
            <a:r>
              <a:t>cosine similarity (scikit-learn)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88620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A56DB"/>
                </a:solidFill>
                <a:latin typeface="Calibri"/>
              </a:defRPr>
            </a:pPr>
            <a:r>
              <a:t>Explanation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16052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4A5A6A"/>
                </a:solidFill>
                <a:latin typeface="Calibri"/>
              </a:defRPr>
            </a:pPr>
            <a:r>
              <a:t>Hybrid: exact keyword overlap,</a:t>
            </a:r>
            <a:br/>
            <a:r>
              <a:t>with TF-IDF cosine for related skills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0" y="1325880"/>
            <a:ext cx="2697480" cy="4663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29000" y="1325880"/>
            <a:ext cx="2697480" cy="77724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66160" y="139903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 i="0">
                <a:solidFill>
                  <a:srgbClr val="FFFFFF"/>
                </a:solidFill>
                <a:latin typeface="Calibri"/>
              </a:defRPr>
            </a:pPr>
            <a:r>
              <a:t>Experience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1709928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E8F5E9"/>
                </a:solidFill>
                <a:latin typeface="Calibri"/>
              </a:defRPr>
            </a:pPr>
            <a:r>
              <a:t>Default weight: 20%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228600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897B"/>
                </a:solidFill>
                <a:latin typeface="Calibri"/>
              </a:defRPr>
            </a:pPr>
            <a:r>
              <a:t>Formula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38728" y="2560320"/>
            <a:ext cx="2468880" cy="1143000"/>
          </a:xfrm>
          <a:prstGeom prst="round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30168" y="2624328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1A1A2E"/>
                </a:solidFill>
                <a:latin typeface="Calibri"/>
              </a:defRPr>
            </a:pPr>
            <a:r>
              <a:t>1.0 if cand_exp ≥ job_min</a:t>
            </a:r>
            <a:br/>
            <a:r>
              <a:t>else proportional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11880" y="388620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897B"/>
                </a:solidFill>
                <a:latin typeface="Calibri"/>
              </a:defRPr>
            </a:pPr>
            <a:r>
              <a:t>Explanation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11880" y="416052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4A5A6A"/>
                </a:solidFill>
                <a:latin typeface="Calibri"/>
              </a:defRPr>
            </a:pPr>
            <a:r>
              <a:t>Full score if meets minimum;</a:t>
            </a:r>
            <a:br/>
            <a:r>
              <a:t>partial credit otherwise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59" y="1325880"/>
            <a:ext cx="2697480" cy="4663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59" y="1325880"/>
            <a:ext cx="2697480" cy="7772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19" y="139903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 i="0">
                <a:solidFill>
                  <a:srgbClr val="FFFFFF"/>
                </a:solidFill>
                <a:latin typeface="Calibri"/>
              </a:defRPr>
            </a:pPr>
            <a:r>
              <a:t>Education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19" y="1709928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E8F5E9"/>
                </a:solidFill>
                <a:latin typeface="Calibri"/>
              </a:defRPr>
            </a:pPr>
            <a:r>
              <a:t>Default weight: 15%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39" y="228600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2E7D32"/>
                </a:solidFill>
                <a:latin typeface="Calibri"/>
              </a:defRPr>
            </a:pPr>
            <a:r>
              <a:t>Formula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19087" y="2560320"/>
            <a:ext cx="2468880" cy="1143000"/>
          </a:xfrm>
          <a:prstGeom prst="round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10527" y="2624328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1A1A2E"/>
                </a:solidFill>
                <a:latin typeface="Calibri"/>
              </a:defRPr>
            </a:pPr>
            <a:r>
              <a:t>Level mapping:</a:t>
            </a:r>
            <a:br/>
            <a:r>
              <a:t>Associate=1, Bachelor=2,</a:t>
            </a:r>
            <a:br/>
            <a:r>
              <a:t>Master=3, PhD=4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39" y="388620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2E7D32"/>
                </a:solidFill>
                <a:latin typeface="Calibri"/>
              </a:defRPr>
            </a:pPr>
            <a:r>
              <a:t>Explanation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39" y="416052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4A5A6A"/>
                </a:solidFill>
                <a:latin typeface="Calibri"/>
              </a:defRPr>
            </a:pPr>
            <a:r>
              <a:t>1.0 if meets or exceeds</a:t>
            </a:r>
            <a:br/>
            <a:r>
              <a:t>required level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89719" y="1325880"/>
            <a:ext cx="2697480" cy="4663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189719" y="1325880"/>
            <a:ext cx="2697480" cy="777240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79" y="139903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 i="0">
                <a:solidFill>
                  <a:srgbClr val="FFFFFF"/>
                </a:solidFill>
                <a:latin typeface="Calibri"/>
              </a:defRPr>
            </a:pPr>
            <a:r>
              <a:t>Location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79" y="1709928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E8F5E9"/>
                </a:solidFill>
                <a:latin typeface="Calibri"/>
              </a:defRPr>
            </a:pPr>
            <a:r>
              <a:t>Default weight: 15%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72599" y="228600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E69F00"/>
                </a:solidFill>
                <a:latin typeface="Calibri"/>
              </a:defRPr>
            </a:pPr>
            <a:r>
              <a:t>Formula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299447" y="2560320"/>
            <a:ext cx="2468880" cy="1143000"/>
          </a:xfrm>
          <a:prstGeom prst="round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90887" y="2624328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1A1A2E"/>
                </a:solidFill>
                <a:latin typeface="Calibri"/>
              </a:defRPr>
            </a:pPr>
            <a:r>
              <a:t>1.0 = exact match</a:t>
            </a:r>
            <a:br/>
            <a:r>
              <a:t>0.7 = remote option</a:t>
            </a:r>
            <a:br/>
            <a:r>
              <a:t>0.3 = different city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72599" y="388620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E69F00"/>
                </a:solidFill>
                <a:latin typeface="Calibri"/>
              </a:defRPr>
            </a:pPr>
            <a:r>
              <a:t>Explanation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72599" y="416052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4A5A6A"/>
                </a:solidFill>
                <a:latin typeface="Calibri"/>
              </a:defRPr>
            </a:pPr>
            <a:r>
              <a:t>Preserves remote work</a:t>
            </a:r>
            <a:br/>
            <a:r>
              <a:t>and relocation options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F3DA8"/>
                </a:solidFill>
                <a:latin typeface="Calibri"/>
              </a:defRPr>
            </a:pPr>
            <a:r>
              <a:t>5. LLM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4A5A6A"/>
                </a:solidFill>
                <a:latin typeface="Calibri"/>
              </a:defRPr>
            </a:pPr>
            <a:r>
              <a:t>Qwen API for semantic analysis and natural-language recommendations</a:t>
            </a:r>
          </a:p>
        </p:txBody>
      </p:sp>
      <p:pic>
        <p:nvPicPr>
          <p:cNvPr id="6" name="Picture 5" descr="dut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1673" y="292608"/>
            <a:ext cx="1454262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6B7B8D"/>
                </a:solidFill>
                <a:latin typeface="Calibri"/>
              </a:defRPr>
            </a:pPr>
            <a:r>
              <a:t>Confidential – PAINDA MOHAMMAD FAYAZ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6355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B7B8D"/>
                </a:solidFill>
                <a:latin typeface="Calibri"/>
              </a:defRPr>
            </a:pPr>
            <a:r>
              <a:t>LLM-Assisted Intelligent Decision 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355080"/>
            <a:ext cx="2041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6B7B8D"/>
                </a:solidFill>
                <a:latin typeface="Calibri"/>
              </a:defRPr>
            </a:pPr>
            <a:r>
              <a:t>7 / 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371600"/>
            <a:ext cx="365760" cy="365760"/>
          </a:xfrm>
          <a:prstGeom prst="round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138988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2984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F3DA8"/>
                </a:solidFill>
                <a:latin typeface="Calibri"/>
              </a:defRPr>
            </a:pPr>
            <a:r>
              <a:t>Design Phase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1572768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4A5A6A"/>
                </a:solidFill>
                <a:latin typeface="Calibri"/>
              </a:defRPr>
            </a:pPr>
            <a:r>
              <a:t>Discussed module decomposition</a:t>
            </a:r>
            <a:br/>
            <a:r>
              <a:t>(input / analysis / display / recommendation)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" y="1773936"/>
            <a:ext cx="31750" cy="411480"/>
          </a:xfrm>
          <a:prstGeom prst="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2240280"/>
            <a:ext cx="365760" cy="365760"/>
          </a:xfrm>
          <a:prstGeom prst="round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225856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21671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F3DA8"/>
                </a:solidFill>
                <a:latin typeface="Calibri"/>
              </a:defRPr>
            </a:pPr>
            <a:r>
              <a:t>Code Generation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2441448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4A5A6A"/>
                </a:solidFill>
                <a:latin typeface="Calibri"/>
              </a:defRPr>
            </a:pPr>
            <a:r>
              <a:t>Generated ipywidgets UI template</a:t>
            </a:r>
            <a:br/>
            <a:r>
              <a:t>and matplotlib dual-view charts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2" y="2642616"/>
            <a:ext cx="31750" cy="411480"/>
          </a:xfrm>
          <a:prstGeom prst="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520" y="3108960"/>
            <a:ext cx="365760" cy="365760"/>
          </a:xfrm>
          <a:prstGeom prst="round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" y="312724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0358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F3DA8"/>
                </a:solidFill>
                <a:latin typeface="Calibri"/>
              </a:defRPr>
            </a:pPr>
            <a:r>
              <a:t>Debugging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3310128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4A5A6A"/>
                </a:solidFill>
                <a:latin typeface="Calibri"/>
              </a:defRPr>
            </a:pPr>
            <a:r>
              <a:t>Helped debug font display, weight</a:t>
            </a:r>
            <a:br/>
            <a:r>
              <a:t>normalization, CSV parsing issues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6112" y="3511296"/>
            <a:ext cx="31750" cy="411480"/>
          </a:xfrm>
          <a:prstGeom prst="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1520" y="3977639"/>
            <a:ext cx="365760" cy="365760"/>
          </a:xfrm>
          <a:prstGeom prst="round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" y="3995927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3904487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F3DA8"/>
                </a:solidFill>
                <a:latin typeface="Calibri"/>
              </a:defRPr>
            </a:pPr>
            <a:r>
              <a:t>Runtime (Core)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4178807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4A5A6A"/>
                </a:solidFill>
                <a:latin typeface="Calibri"/>
              </a:defRPr>
            </a:pPr>
            <a:r>
              <a:t>Decision-support engine: generates</a:t>
            </a:r>
            <a:br/>
            <a:r>
              <a:t>highlights / gaps / recommendation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6112" y="4379975"/>
            <a:ext cx="31750" cy="411480"/>
          </a:xfrm>
          <a:prstGeom prst="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1520" y="4846320"/>
            <a:ext cx="365760" cy="365760"/>
          </a:xfrm>
          <a:prstGeom prst="round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" y="486460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47731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F3DA8"/>
                </a:solidFill>
                <a:latin typeface="Calibri"/>
              </a:defRPr>
            </a:pPr>
            <a:r>
              <a:t>Optimization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4440" y="5047488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4A5A6A"/>
                </a:solidFill>
                <a:latin typeface="Calibri"/>
              </a:defRPr>
            </a:pPr>
            <a:r>
              <a:t>Suggested location mismatch score</a:t>
            </a:r>
            <a:br/>
            <a:r>
              <a:t>of 0.3 instead of 0 for remote options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0" y="1234440"/>
            <a:ext cx="5760720" cy="4800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69280" y="1234440"/>
            <a:ext cx="5760720" cy="5080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0" y="13716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1A56DB"/>
                </a:solidFill>
                <a:latin typeface="Calibri"/>
              </a:defRPr>
            </a:pPr>
            <a:r>
              <a:t>Runtime Prompt Design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1874519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F3DA8"/>
                </a:solidFill>
                <a:latin typeface="Calibri"/>
              </a:defRPr>
            </a:pPr>
            <a:r>
              <a:t>Role Setup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20" y="1874519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4A5A6A"/>
                </a:solidFill>
                <a:latin typeface="Calibri"/>
              </a:defRPr>
            </a:pPr>
            <a:r>
              <a:t>"You are an experienced and concise HR consultant"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0" y="254203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F3DA8"/>
                </a:solidFill>
                <a:latin typeface="Calibri"/>
              </a:defRPr>
            </a:pPr>
            <a:r>
              <a:t>Input Context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0" y="2542032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4A5A6A"/>
                </a:solidFill>
                <a:latin typeface="Calibri"/>
              </a:defRPr>
            </a:pPr>
            <a:r>
              <a:t>Candidate profile + Job details + System scores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0" y="3209544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F3DA8"/>
                </a:solidFill>
                <a:latin typeface="Calibri"/>
              </a:defRPr>
            </a:pPr>
            <a:r>
              <a:t>Output Format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89520" y="3209544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4A5A6A"/>
                </a:solidFill>
                <a:latin typeface="Calibri"/>
              </a:defRPr>
            </a:pPr>
            <a:r>
              <a:t>3-section Markdown:</a:t>
            </a:r>
            <a:br/>
            <a:r>
              <a:t>   ✅ Match Highlights (2–3 bullets)</a:t>
            </a:r>
            <a:br/>
            <a:r>
              <a:t>   ⚠️ Main Gaps (2–3 bullets)</a:t>
            </a:r>
            <a:br/>
            <a:r>
              <a:t>   💡 Recommendation (1 sentence)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0" y="3877056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F3DA8"/>
                </a:solidFill>
                <a:latin typeface="Calibri"/>
              </a:defRPr>
            </a:pPr>
            <a:r>
              <a:t>Model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89520" y="3877056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4A5A6A"/>
                </a:solidFill>
                <a:latin typeface="Calibri"/>
              </a:defRPr>
            </a:pPr>
            <a:r>
              <a:t>qwen-plus (configurable via LLM_MODEL env var)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0" y="454456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F3DA8"/>
                </a:solidFill>
                <a:latin typeface="Calibri"/>
              </a:defRPr>
            </a:pPr>
            <a:r>
              <a:t>Token Limit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89520" y="4544568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4A5A6A"/>
                </a:solidFill>
                <a:latin typeface="Calibri"/>
              </a:defRPr>
            </a:pPr>
            <a:r>
              <a:t>max_tokens: 600 (cost control)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0" y="5212079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F3DA8"/>
                </a:solidFill>
                <a:latin typeface="Calibri"/>
              </a:defRPr>
            </a:pPr>
            <a:r>
              <a:t>Cost Estimate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89520" y="5212079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4A5A6A"/>
                </a:solidFill>
                <a:latin typeface="Calibri"/>
              </a:defRPr>
            </a:pPr>
            <a:r>
              <a:t>~10 calls for demo, ~600 tokens each, ~$0.15 USD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F3DA8"/>
                </a:solidFill>
                <a:latin typeface="Calibri"/>
              </a:defRPr>
            </a:pPr>
            <a:r>
              <a:t>6. Interactive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4A5A6A"/>
                </a:solidFill>
                <a:latin typeface="Calibri"/>
              </a:defRPr>
            </a:pPr>
            <a:r>
              <a:t>Jupyter ipywidgets + Flask web application</a:t>
            </a:r>
          </a:p>
        </p:txBody>
      </p:sp>
      <p:pic>
        <p:nvPicPr>
          <p:cNvPr id="6" name="Picture 5" descr="dut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1673" y="292608"/>
            <a:ext cx="1454262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6B7B8D"/>
                </a:solidFill>
                <a:latin typeface="Calibri"/>
              </a:defRPr>
            </a:pPr>
            <a:r>
              <a:t>Confidential – PAINDA MOHAMMAD FAYAZ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6355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B7B8D"/>
                </a:solidFill>
                <a:latin typeface="Calibri"/>
              </a:defRPr>
            </a:pPr>
            <a:r>
              <a:t>LLM-Assisted Intelligent Decision 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355080"/>
            <a:ext cx="2041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6B7B8D"/>
                </a:solidFill>
                <a:latin typeface="Calibri"/>
              </a:defRPr>
            </a:pPr>
            <a:r>
              <a:t>8 /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280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0F3DA8"/>
                </a:solidFill>
                <a:latin typeface="Calibri"/>
              </a:defRPr>
            </a:pPr>
            <a:r>
              <a:t>Jupyter Notebook (Primary)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691640"/>
            <a:ext cx="5029200" cy="4114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1691640"/>
            <a:ext cx="5029200" cy="5080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192024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•  Candidate selector dropdown (153 candidates)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•  Skills weight slider (0.0 – 1.0)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•  Experience weight slider (0.0 – 1.0)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•  Education weight slider (0.0 – 1.0)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•  Location weight slider (0.0 – 1.0)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•  Location filter (multi-select, 10 cities + Remote)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•  Minimum salary filter ($0 – $300K)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•  Top-N control (3 – 15 results)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•  LLM analysis toggle (enable/disable Qwen)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280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0F3DA8"/>
                </a:solidFill>
                <a:latin typeface="Calibri"/>
              </a:defRPr>
            </a:pPr>
            <a:r>
              <a:t>Flask Web App (Alternative)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691640"/>
            <a:ext cx="5212080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691640"/>
            <a:ext cx="5212080" cy="508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92024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•  Modern responsive web UI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•  Real-time AJAX matching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•  Interactive weight adjustment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•  Location &amp; salary filtering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•  Score-colored result cards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•  Qwen analysis on demand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•  Runs on localhost:5000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114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F3DA8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526280"/>
            <a:ext cx="5212080" cy="1645920"/>
          </a:xfrm>
          <a:prstGeom prst="roundRect">
            <a:avLst/>
          </a:prstGeom>
          <a:solidFill>
            <a:srgbClr val="E8F0FE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6634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F3DA8"/>
                </a:solidFill>
                <a:latin typeface="Calibri"/>
              </a:defRPr>
            </a:pPr>
            <a:r>
              <a:t>Python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466344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4A5A6A"/>
                </a:solidFill>
                <a:latin typeface="Calibri"/>
              </a:defRPr>
            </a:pPr>
            <a:r>
              <a:t>pandas, numpy, scikit-learn, matplotlib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01091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F3DA8"/>
                </a:solidFill>
                <a:latin typeface="Calibri"/>
              </a:defRPr>
            </a:pPr>
            <a:r>
              <a:t>LLM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501091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4A5A6A"/>
                </a:solidFill>
                <a:latin typeface="Calibri"/>
              </a:defRPr>
            </a:pPr>
            <a:r>
              <a:t>Qwen (DashScope) API (qwen-plus)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5358383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F3DA8"/>
                </a:solidFill>
                <a:latin typeface="Calibri"/>
              </a:defRPr>
            </a:pPr>
            <a:r>
              <a:t>UI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5358383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4A5A6A"/>
                </a:solidFill>
                <a:latin typeface="Calibri"/>
              </a:defRPr>
            </a:pPr>
            <a:r>
              <a:t>ipywidgets + Flask + HTML/JS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570585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F3DA8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570585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4A5A6A"/>
                </a:solidFill>
                <a:latin typeface="Calibri"/>
              </a:defRPr>
            </a:pPr>
            <a:r>
              <a:t>CSV (jobs.csv, candidates.csv)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F3DA8"/>
                </a:solidFill>
                <a:latin typeface="Calibri"/>
              </a:defRPr>
            </a:pPr>
            <a:r>
              <a:t>7. Live Demo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4A5A6A"/>
                </a:solidFill>
                <a:latin typeface="Calibri"/>
              </a:defRPr>
            </a:pPr>
            <a:r>
              <a:t>Recommended 3–4 minute demonstration flow</a:t>
            </a:r>
          </a:p>
        </p:txBody>
      </p:sp>
      <p:pic>
        <p:nvPicPr>
          <p:cNvPr id="6" name="Picture 5" descr="dut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1673" y="292608"/>
            <a:ext cx="1454262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6B7B8D"/>
                </a:solidFill>
                <a:latin typeface="Calibri"/>
              </a:defRPr>
            </a:pPr>
            <a:r>
              <a:t>Confidential – PAINDA MOHAMMAD FAYAZ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6355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B7B8D"/>
                </a:solidFill>
                <a:latin typeface="Calibri"/>
              </a:defRPr>
            </a:pPr>
            <a:r>
              <a:t>LLM-Assisted Intelligent Decision 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355080"/>
            <a:ext cx="2041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6B7B8D"/>
                </a:solidFill>
                <a:latin typeface="Calibri"/>
              </a:defRPr>
            </a:pPr>
            <a:r>
              <a:t>9 / 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371600"/>
            <a:ext cx="530352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68680" y="1481328"/>
            <a:ext cx="777240" cy="292608"/>
          </a:xfrm>
          <a:prstGeom prst="round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4813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Step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144475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A1A2E"/>
                </a:solidFill>
                <a:latin typeface="Calibri"/>
              </a:defRPr>
            </a:pPr>
            <a:r>
              <a:t>Select Candidate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1755648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4A5A6A"/>
                </a:solidFill>
                <a:latin typeface="Calibri"/>
              </a:defRPr>
            </a:pPr>
            <a:r>
              <a:t>Pick "Alex Johnson"</a:t>
            </a:r>
            <a:br/>
            <a:r>
              <a:t>(Python backend, 5 years, Bachelor)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23317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A56DB"/>
                </a:solidFill>
                <a:latin typeface="Calibri"/>
              </a:defRPr>
            </a:pPr>
            <a:r>
              <a:t>→ Start with a well-rounded candidate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371600"/>
            <a:ext cx="530352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37960" y="1481328"/>
            <a:ext cx="777240" cy="292608"/>
          </a:xfrm>
          <a:prstGeom prst="round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14813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144475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A1A2E"/>
                </a:solidFill>
                <a:latin typeface="Calibri"/>
              </a:defRPr>
            </a:pPr>
            <a:r>
              <a:t>Default Matching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1755648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4A5A6A"/>
                </a:solidFill>
                <a:latin typeface="Calibri"/>
              </a:defRPr>
            </a:pPr>
            <a:r>
              <a:t>Run with default weights</a:t>
            </a:r>
            <a:br/>
            <a:r>
              <a:t>(Skills 50%, Exp 20%, Edu 15%, Loc 15%)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23317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897B"/>
                </a:solidFill>
                <a:latin typeface="Calibri"/>
              </a:defRPr>
            </a:pPr>
            <a:r>
              <a:t>→ Top 5 shows Senior Python Backend at ~90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2971800"/>
            <a:ext cx="530352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68680" y="3081528"/>
            <a:ext cx="777240" cy="29260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3081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Step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83080" y="304495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A1A2E"/>
                </a:solidFill>
                <a:latin typeface="Calibri"/>
              </a:defRPr>
            </a:pPr>
            <a:r>
              <a:t>Adjust Weights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83080" y="3355848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4A5A6A"/>
                </a:solidFill>
                <a:latin typeface="Calibri"/>
              </a:defRPr>
            </a:pPr>
            <a:r>
              <a:t>Raise the Location weight slider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83080" y="39319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2E7D32"/>
                </a:solidFill>
                <a:latin typeface="Calibri"/>
              </a:defRPr>
            </a:pPr>
            <a:r>
              <a:t>→ Location-matched jobs jump to the top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2971800"/>
            <a:ext cx="530352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537960" y="3081528"/>
            <a:ext cx="777240" cy="292608"/>
          </a:xfrm>
          <a:prstGeom prst="round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65392" y="3081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Step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2360" y="304495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A1A2E"/>
                </a:solidFill>
                <a:latin typeface="Calibri"/>
              </a:defRPr>
            </a:pPr>
            <a:r>
              <a:t>Apply Filters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2360" y="3355848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4A5A6A"/>
                </a:solidFill>
                <a:latin typeface="Calibri"/>
              </a:defRPr>
            </a:pPr>
            <a:r>
              <a:t>Filter to "San Francisco, CA" only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52360" y="39319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E69F00"/>
                </a:solidFill>
                <a:latin typeface="Calibri"/>
              </a:defRPr>
            </a:pPr>
            <a:r>
              <a:t>→ Live filtering narrows results instantly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4572000"/>
            <a:ext cx="530352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68680" y="4681728"/>
            <a:ext cx="777240" cy="292608"/>
          </a:xfrm>
          <a:prstGeom prst="round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6112" y="46817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Step 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83080" y="464515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A1A2E"/>
                </a:solidFill>
                <a:latin typeface="Calibri"/>
              </a:defRPr>
            </a:pPr>
            <a:r>
              <a:t>View AI Analysis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83080" y="4956048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4A5A6A"/>
                </a:solidFill>
                <a:latin typeface="Calibri"/>
              </a:defRPr>
            </a:pPr>
            <a:r>
              <a:t>Show Qwen-generated explanation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83080" y="55321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A56DB"/>
                </a:solidFill>
                <a:latin typeface="Calibri"/>
              </a:defRPr>
            </a:pPr>
            <a:r>
              <a:t>→ Highlights / Gaps / Recommendation output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0" y="4572000"/>
            <a:ext cx="530352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537960" y="4681728"/>
            <a:ext cx="777240" cy="292608"/>
          </a:xfrm>
          <a:prstGeom prst="round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65392" y="46817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Step 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52360" y="464515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A1A2E"/>
                </a:solidFill>
                <a:latin typeface="Calibri"/>
              </a:defRPr>
            </a:pPr>
            <a:r>
              <a:t>Switch Candidate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52360" y="4956048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4A5A6A"/>
                </a:solidFill>
                <a:latin typeface="Calibri"/>
              </a:defRPr>
            </a:pPr>
            <a:r>
              <a:t>Change to "Harper Scott" (LLM engineer)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52360" y="55321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897B"/>
                </a:solidFill>
                <a:latin typeface="Calibri"/>
              </a:defRPr>
            </a:pPr>
            <a:r>
              <a:t>→ Top 1 auto-changes to LLM Engineer roles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F3DA8"/>
                </a:solidFill>
                <a:latin typeface="Calibri"/>
              </a:defRPr>
            </a:pPr>
            <a:r>
              <a:t>8. Results &amp;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4A5A6A"/>
                </a:solidFill>
                <a:latin typeface="Calibri"/>
              </a:defRPr>
            </a:pPr>
            <a:r>
              <a:t>What the system achieves</a:t>
            </a:r>
          </a:p>
        </p:txBody>
      </p:sp>
      <p:pic>
        <p:nvPicPr>
          <p:cNvPr id="6" name="Picture 5" descr="dut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1673" y="292608"/>
            <a:ext cx="1454262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6B7B8D"/>
                </a:solidFill>
                <a:latin typeface="Calibri"/>
              </a:defRPr>
            </a:pPr>
            <a:r>
              <a:t>Confidential – PAINDA MOHAMMAD FAYAZ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6355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B7B8D"/>
                </a:solidFill>
                <a:latin typeface="Calibri"/>
              </a:defRPr>
            </a:pPr>
            <a:r>
              <a:t>LLM-Assisted Intelligent Decision 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355080"/>
            <a:ext cx="2041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6B7B8D"/>
                </a:solidFill>
                <a:latin typeface="Calibri"/>
              </a:defRPr>
            </a:pPr>
            <a:r>
              <a:t>10 /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55448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0F3DA8"/>
                </a:solidFill>
                <a:latin typeface="Calibri"/>
              </a:defRPr>
            </a:pPr>
            <a:r>
              <a:t>Assignment Requirements Checklist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1488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4A5A6A"/>
                </a:solidFill>
                <a:latin typeface="Calibri"/>
              </a:defRPr>
            </a:pPr>
            <a:r>
              <a:t>How the project maps to each official requirement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697480"/>
            <a:ext cx="10728655" cy="3246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68680" y="2880360"/>
            <a:ext cx="10454335" cy="457200"/>
          </a:xfrm>
          <a:prstGeom prst="round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2962656"/>
            <a:ext cx="6583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1A1A2E"/>
                </a:solidFill>
                <a:latin typeface="Calibri"/>
              </a:defRPr>
            </a:pPr>
            <a:r>
              <a:t>Complete input → analysis → display → recommendation 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296265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2E7D32"/>
                </a:solidFill>
                <a:latin typeface="Calibri"/>
              </a:defRPr>
            </a:pPr>
            <a:r>
              <a:t>✅ All 4 modules implemented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465576"/>
            <a:ext cx="6583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1A1A2E"/>
                </a:solidFill>
                <a:latin typeface="Calibri"/>
              </a:defRPr>
            </a:pPr>
            <a:r>
              <a:t>Python + Jupyter Notebook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346557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2E7D32"/>
                </a:solidFill>
                <a:latin typeface="Calibri"/>
              </a:defRPr>
            </a:pPr>
            <a:r>
              <a:t>✅ job_matching.ipynb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3886200"/>
            <a:ext cx="10454335" cy="457200"/>
          </a:xfrm>
          <a:prstGeom prst="round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3968496"/>
            <a:ext cx="6583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1A1A2E"/>
                </a:solidFill>
                <a:latin typeface="Calibri"/>
              </a:defRPr>
            </a:pPr>
            <a:r>
              <a:t>Use pandas / matplotlib / scikit-learn / ipywidgets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396849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2E7D32"/>
                </a:solidFill>
                <a:latin typeface="Calibri"/>
              </a:defRPr>
            </a:pPr>
            <a:r>
              <a:t>✅ All present and functional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471416"/>
            <a:ext cx="6583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1A1A2E"/>
                </a:solidFill>
                <a:latin typeface="Calibri"/>
              </a:defRPr>
            </a:pPr>
            <a:r>
              <a:t>Data input, analysis, display, parameter interaction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447141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2E7D32"/>
                </a:solidFill>
                <a:latin typeface="Calibri"/>
              </a:defRPr>
            </a:pPr>
            <a:r>
              <a:t>✅ Modules 1–4 with 9 controls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4892040"/>
            <a:ext cx="10454335" cy="457200"/>
          </a:xfrm>
          <a:prstGeom prst="round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4974336"/>
            <a:ext cx="6583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1A1A2E"/>
                </a:solidFill>
                <a:latin typeface="Calibri"/>
              </a:defRPr>
            </a:pPr>
            <a:r>
              <a:t>Not chat logs, static docs, or non-runnable code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497433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2E7D32"/>
                </a:solidFill>
                <a:latin typeface="Calibri"/>
              </a:defRPr>
            </a:pPr>
            <a:r>
              <a:t>✅ Fully runnable end-to-end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5477256"/>
            <a:ext cx="6583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1A1A2E"/>
                </a:solidFill>
                <a:latin typeface="Calibri"/>
              </a:defRPr>
            </a:pPr>
            <a:r>
              <a:t>LLM-assisted decision support (live)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547725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2E7D32"/>
                </a:solidFill>
                <a:latin typeface="Calibri"/>
              </a:defRPr>
            </a:pPr>
            <a:r>
              <a:t>✅ Qwen analysis verified working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F3DA8"/>
                </a:solidFill>
                <a:latin typeface="Calibri"/>
              </a:defRPr>
            </a:pPr>
            <a:r>
              <a:t>9. Limitations &amp;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4A5A6A"/>
                </a:solidFill>
                <a:latin typeface="Calibri"/>
              </a:defRPr>
            </a:pPr>
            <a:r>
              <a:t>Known gaps and improvement roadmap</a:t>
            </a:r>
          </a:p>
        </p:txBody>
      </p:sp>
      <p:pic>
        <p:nvPicPr>
          <p:cNvPr id="6" name="Picture 5" descr="dut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1673" y="292608"/>
            <a:ext cx="1454262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6B7B8D"/>
                </a:solidFill>
                <a:latin typeface="Calibri"/>
              </a:defRPr>
            </a:pPr>
            <a:r>
              <a:t>Confidential – PAINDA MOHAMMAD FAYAZ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6355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B7B8D"/>
                </a:solidFill>
                <a:latin typeface="Calibri"/>
              </a:defRPr>
            </a:pPr>
            <a:r>
              <a:t>LLM-Assisted Intelligent Decision 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355080"/>
            <a:ext cx="2041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6B7B8D"/>
                </a:solidFill>
                <a:latin typeface="Calibri"/>
              </a:defRPr>
            </a:pPr>
            <a:r>
              <a:t>11 /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280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C62828"/>
                </a:solidFill>
                <a:latin typeface="Calibri"/>
              </a:defRPr>
            </a:pPr>
            <a:r>
              <a:t>Current Limitations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691640"/>
            <a:ext cx="502920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1691640"/>
            <a:ext cx="54864" cy="86868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1764792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C62828"/>
                </a:solidFill>
                <a:latin typeface="Calibri"/>
              </a:defRPr>
            </a:pPr>
            <a:r>
              <a:t>⚠  Term-Level Matching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01168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4A5A6A"/>
                </a:solidFill>
                <a:latin typeface="Calibri"/>
              </a:defRPr>
            </a:pPr>
            <a:r>
              <a:t>TF-IDF captures shared context but not</a:t>
            </a:r>
            <a:br/>
            <a:r>
              <a:t>true synonyms (React ≈ Vue)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743200"/>
            <a:ext cx="502920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2743200"/>
            <a:ext cx="54864" cy="86868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2816352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C62828"/>
                </a:solidFill>
                <a:latin typeface="Calibri"/>
              </a:defRPr>
            </a:pPr>
            <a:r>
              <a:t>⚠  Synthetic Dataset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06324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4A5A6A"/>
                </a:solidFill>
                <a:latin typeface="Calibri"/>
              </a:defRPr>
            </a:pPr>
            <a:r>
              <a:t>1,070 jobs / 153 candidates are generated;</a:t>
            </a:r>
            <a:br/>
            <a:r>
              <a:t>not validated against real resumes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794760"/>
            <a:ext cx="502920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794760"/>
            <a:ext cx="54864" cy="86868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867912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C62828"/>
                </a:solidFill>
                <a:latin typeface="Calibri"/>
              </a:defRPr>
            </a:pPr>
            <a:r>
              <a:t>⚠  LLM Latency &amp; Cost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11480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4A5A6A"/>
                </a:solidFill>
                <a:latin typeface="Calibri"/>
              </a:defRPr>
            </a:pPr>
            <a:r>
              <a:t>Each API call takes 2–5 seconds;</a:t>
            </a:r>
            <a:br/>
            <a:r>
              <a:t>requires internet connection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846320"/>
            <a:ext cx="502920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4846320"/>
            <a:ext cx="54864" cy="86868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919472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C62828"/>
                </a:solidFill>
                <a:latin typeface="Calibri"/>
              </a:defRPr>
            </a:pPr>
            <a:r>
              <a:t>⚠  No Learning Feedback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16636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4A5A6A"/>
                </a:solidFill>
                <a:latin typeface="Calibri"/>
              </a:defRPr>
            </a:pPr>
            <a:r>
              <a:t>System doesn’t learn from HR</a:t>
            </a:r>
            <a:br/>
            <a:r>
              <a:t>ratings of recommendations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1280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2E7D32"/>
                </a:solidFill>
                <a:latin typeface="Calibri"/>
              </a:defRPr>
            </a:pPr>
            <a:r>
              <a:t>Future Improvements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1691640"/>
            <a:ext cx="521208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1691640"/>
            <a:ext cx="54864" cy="71323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00800" y="1856232"/>
            <a:ext cx="292608" cy="29260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9944" y="1856232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174650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2E7D32"/>
                </a:solidFill>
                <a:latin typeface="Calibri"/>
              </a:defRPr>
            </a:pPr>
            <a:r>
              <a:t>Semantic Embeddings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1746504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4A5A6A"/>
                </a:solidFill>
                <a:latin typeface="Calibri"/>
              </a:defRPr>
            </a:pPr>
            <a:r>
              <a:t>Replace keyword sets with</a:t>
            </a:r>
            <a:br/>
            <a:r>
              <a:t>embedding-model similarity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2560320"/>
            <a:ext cx="521208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2560320"/>
            <a:ext cx="54864" cy="71323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400800" y="2724912"/>
            <a:ext cx="292608" cy="29260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9944" y="2724912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261518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2E7D32"/>
                </a:solidFill>
                <a:latin typeface="Calibri"/>
              </a:defRPr>
            </a:pPr>
            <a:r>
              <a:t>Resume Parsing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2615184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4A5A6A"/>
                </a:solidFill>
                <a:latin typeface="Calibri"/>
              </a:defRPr>
            </a:pPr>
            <a:r>
              <a:t>Upload PDF/Word resumes;</a:t>
            </a:r>
            <a:br/>
            <a:r>
              <a:t>LLM auto-extracts structure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3429000"/>
            <a:ext cx="521208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17920" y="3429000"/>
            <a:ext cx="54864" cy="71323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400800" y="3593592"/>
            <a:ext cx="292608" cy="29260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9944" y="3593592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348386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2E7D32"/>
                </a:solidFill>
                <a:latin typeface="Calibri"/>
              </a:defRPr>
            </a:pPr>
            <a:r>
              <a:t>Bidirectional Matching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0" y="3483864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4A5A6A"/>
                </a:solidFill>
                <a:latin typeface="Calibri"/>
              </a:defRPr>
            </a:pPr>
            <a:r>
              <a:t>Also recommend candidates</a:t>
            </a:r>
            <a:br/>
            <a:r>
              <a:t>for a given job posting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17920" y="4297679"/>
            <a:ext cx="521208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17920" y="4297679"/>
            <a:ext cx="54864" cy="71323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400800" y="4462271"/>
            <a:ext cx="292608" cy="29260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9944" y="4462271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0" y="4352543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2E7D32"/>
                </a:solidFill>
                <a:latin typeface="Calibri"/>
              </a:defRPr>
            </a:pPr>
            <a:r>
              <a:t>Reinforcement Learning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86800" y="4352543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4A5A6A"/>
                </a:solidFill>
                <a:latin typeface="Calibri"/>
              </a:defRPr>
            </a:pPr>
            <a:r>
              <a:t>HR rates recommendations;</a:t>
            </a:r>
            <a:br/>
            <a:r>
              <a:t>weights auto-adjust via RL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217920" y="5166360"/>
            <a:ext cx="521208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217920" y="5166360"/>
            <a:ext cx="54864" cy="71323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400800" y="5330952"/>
            <a:ext cx="292608" cy="29260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9944" y="5330952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8000" y="522122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2E7D32"/>
                </a:solidFill>
                <a:latin typeface="Calibri"/>
              </a:defRPr>
            </a:pPr>
            <a:r>
              <a:t>Multi-Model Voting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86800" y="5221224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4A5A6A"/>
                </a:solidFill>
                <a:latin typeface="Calibri"/>
              </a:defRPr>
            </a:pPr>
            <a:r>
              <a:t>Call multiple LLMs, aggregate</a:t>
            </a:r>
            <a:br/>
            <a:r>
              <a:t>for more reliable results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F3DA8"/>
                </a:solidFill>
                <a:latin typeface="Calibri"/>
              </a:defRPr>
            </a:pPr>
            <a:r>
              <a:t>10.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4A5A6A"/>
                </a:solidFill>
                <a:latin typeface="Calibri"/>
              </a:defRPr>
            </a:pPr>
            <a:r>
              <a:t>Key takeaways from the project</a:t>
            </a:r>
          </a:p>
        </p:txBody>
      </p:sp>
      <p:pic>
        <p:nvPicPr>
          <p:cNvPr id="6" name="Picture 5" descr="dut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1673" y="292608"/>
            <a:ext cx="1454262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6B7B8D"/>
                </a:solidFill>
                <a:latin typeface="Calibri"/>
              </a:defRPr>
            </a:pPr>
            <a:r>
              <a:t>Confidential – PAINDA MOHAMMAD FAYAZ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6355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B7B8D"/>
                </a:solidFill>
                <a:latin typeface="Calibri"/>
              </a:defRPr>
            </a:pPr>
            <a:r>
              <a:t>LLM-Assisted Intelligent Decision 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355080"/>
            <a:ext cx="2041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6B7B8D"/>
                </a:solidFill>
                <a:latin typeface="Calibri"/>
              </a:defRPr>
            </a:pPr>
            <a:r>
              <a:t>12 / 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325880"/>
            <a:ext cx="10728655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1325880"/>
            <a:ext cx="64008" cy="137160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05840" y="1600200"/>
            <a:ext cx="502920" cy="502920"/>
          </a:xfrm>
          <a:prstGeom prst="round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" y="1618488"/>
            <a:ext cx="475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14356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 i="0">
                <a:solidFill>
                  <a:srgbClr val="1A56DB"/>
                </a:solidFill>
                <a:latin typeface="Calibri"/>
              </a:defRPr>
            </a:pPr>
            <a:r>
              <a:t>Hybrid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17830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4A5A6A"/>
                </a:solidFill>
                <a:latin typeface="Calibri"/>
              </a:defRPr>
            </a:pPr>
            <a:r>
              <a:t>Rule-based scoring provides transparency and auditability;</a:t>
            </a:r>
            <a:br/>
            <a:r>
              <a:t>LLM adds semantic understanding and natural-language explanations.</a:t>
            </a:r>
            <a:br/>
            <a:r>
              <a:t>Neither alone is sufficient — the combination delivers the best results.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926080"/>
            <a:ext cx="10728655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2926080"/>
            <a:ext cx="64008" cy="13716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05840" y="3200400"/>
            <a:ext cx="502920" cy="502920"/>
          </a:xfrm>
          <a:prstGeom prst="round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1" y="3218688"/>
            <a:ext cx="475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30358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 i="0">
                <a:solidFill>
                  <a:srgbClr val="00897B"/>
                </a:solidFill>
                <a:latin typeface="Calibri"/>
              </a:defRPr>
            </a:pPr>
            <a:r>
              <a:t>Full-Stack Implementation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33832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4A5A6A"/>
                </a:solidFill>
                <a:latin typeface="Calibri"/>
              </a:defRPr>
            </a:pPr>
            <a:r>
              <a:t>Complete pipeline from data input through analysis, visualization,</a:t>
            </a:r>
            <a:br/>
            <a:r>
              <a:t>and AI-powered recommendations. Two interfaces: Jupyter + Flask web app.</a:t>
            </a:r>
            <a:br/>
            <a:r>
              <a:t>All assignment requirements met with runnable, end-to-end code.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526280"/>
            <a:ext cx="10728655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526280"/>
            <a:ext cx="64008" cy="13716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05840" y="4800600"/>
            <a:ext cx="502920" cy="5029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3271" y="4818888"/>
            <a:ext cx="475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46360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 i="0">
                <a:solidFill>
                  <a:srgbClr val="2E7D32"/>
                </a:solidFill>
                <a:latin typeface="Calibri"/>
              </a:defRPr>
            </a:pPr>
            <a:r>
              <a:t>Practical LLM Usage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7360" y="49834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4A5A6A"/>
                </a:solidFill>
                <a:latin typeface="Calibri"/>
              </a:defRPr>
            </a:pPr>
            <a:r>
              <a:t>Qwen is used across the full project lifecycle: design, coding,</a:t>
            </a:r>
            <a:br/>
            <a:r>
              <a:t>debugging, runtime analysis, and optimization. The runtime prompt</a:t>
            </a:r>
            <a:br/>
            <a:r>
              <a:t>is carefully engineered for structured, cost-effective output.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0"/>
            <a:ext cx="12191695" cy="3474720"/>
          </a:xfrm>
          <a:prstGeom prst="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828800"/>
            <a:ext cx="12191695" cy="2540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303520"/>
            <a:ext cx="12191695" cy="2540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ut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0526" y="365760"/>
            <a:ext cx="2250643" cy="594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1051560"/>
            <a:ext cx="103628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0">
                <a:solidFill>
                  <a:srgbClr val="1A56DB"/>
                </a:solidFill>
                <a:latin typeface="Calibri"/>
              </a:defRPr>
            </a:pPr>
            <a:r>
              <a:t>Dalian University of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0F3DA8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26080"/>
            <a:ext cx="103628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4A5A6A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3566160"/>
            <a:ext cx="2133295" cy="1905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3840480"/>
            <a:ext cx="4876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1A1A2E"/>
                </a:solidFill>
                <a:latin typeface="Calibri"/>
              </a:defRPr>
            </a:pPr>
            <a:r>
              <a:t>Student:  PAINDA MOHAMMAD FAYAZ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4224528"/>
            <a:ext cx="4876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1A1A2E"/>
                </a:solidFill>
                <a:latin typeface="Calibri"/>
              </a:defRPr>
            </a:pPr>
            <a:r>
              <a:t>Student ID:  22511204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608576"/>
            <a:ext cx="4876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1A1A2E"/>
                </a:solidFill>
                <a:latin typeface="Calibri"/>
              </a:defRPr>
            </a:pPr>
            <a:r>
              <a:t>Course:  LLM-Assisted Intelligent Decision Application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992624"/>
            <a:ext cx="4876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1A1A2E"/>
                </a:solidFill>
                <a:latin typeface="Calibri"/>
              </a:defRPr>
            </a:pPr>
            <a:r>
              <a:t>Email:  fayazpainda@mail.dlut.edu.cn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6B7B8D"/>
                </a:solidFill>
                <a:latin typeface="Calibri"/>
              </a:defRPr>
            </a:pPr>
            <a:r>
              <a:t>Confidential – PAINDA MOHAMMAD FAYAZ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B7B8D"/>
                </a:solidFill>
                <a:latin typeface="Calibri"/>
              </a:defRPr>
            </a:pPr>
            <a:r>
              <a:t>LLM-Assisted Intelligent Decision Application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355080"/>
            <a:ext cx="2041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6B7B8D"/>
                </a:solidFill>
                <a:latin typeface="Calibri"/>
              </a:defRPr>
            </a:pPr>
            <a: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