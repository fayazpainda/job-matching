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 Good morning. I'm Painda Mohammad Fayaz, student 22511204. My final project is an LLM-powered intelligent job-matching system that helps HR teams match candidates to job openings.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 Here's my outline: the problem and its difficulties, my solution design, how I use the LLM, a live demo, and finally results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 The scenario is tech-company recruiting. HR teams must match many candidates to many job postings, and today it's done manually -- reading each resume and comparing it to the job requirements. My users are HR staff and job seekers; the goal is fast, explainable matches.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 There are four pain points. It's SLOW -- 5 to 10 minutes per resume. It's SUBJECTIVE -- different reviewers judge differently. Traditional systems are a BLACK BOX -- one score, no reason. And the right weighting of skills, experience, education and location differs for every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 My design is a two-layer hybrid. First, a transparent rule-based engine scores every candidate-job pair on four weighted dimensions. Then the LLM adds a natural-language explanation for the top match. Rules give auditability; the LLM adds semantic understanding. Neither alone is enough -- pure rules are rigid, pure LLM is a costly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 Each pair is scored 0 to 100 across four dimensions -- skills, experience, education, location -- with adjustable weights. The skills score is a HYBRID: exact keyword overlap PLUS a scikit-learn TF-IDF cosine-similarity term, so related tech stacks earn partial credit. Experience and education are proportional; location rewards an exact or remote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 I use Qwen -- Alibaba's model -- through an OpenAI-compatible API. After the rules rank the jobs, I send the top match and its scores to Qwen, which returns a structured analysis: Highlights, Gaps, and a Recommendation. The LLM also helped me during development -- module design, UI code generation, and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[0:30]  &gt;&gt;&gt; DEMO HANDOFF &lt;&lt;&lt;</a:t>
            </a:r>
          </a:p>
          <a:p>
            <a:r>
              <a:t>The whole thing runs in a Jupyter Notebook with ipywidgets. Rather than describe it, let me show it live.</a:t>
            </a:r>
          </a:p>
          <a:p>
            <a:r>
              <a:t>ACTION: press Cmd+Tab to the notebook. Confirm 'Qwen API ready: model=qwen-plus' is visible at the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[~3:00]  &gt;&gt;&gt; LIVE DEMO -- the most important part &lt;&lt;&lt;</a:t>
            </a:r>
          </a:p>
          <a:p>
            <a:r>
              <a:t>1) Pick a candidate from the dropdown.</a:t>
            </a:r>
          </a:p>
          <a:p>
            <a:r>
              <a:t>2) Click MATCH -- show the Top-5 table and the 4-dimension bar charts.</a:t>
            </a:r>
          </a:p>
          <a:p>
            <a:r>
              <a:t>3) Drag the LOCATION weight up -- the ranking updates live.</a:t>
            </a:r>
          </a:p>
          <a:p>
            <a:r>
              <a:t>4) Scroll to the QWEN ANALYSIS -- read the Highlights / Gaps / Recommendation, and stress that this is a LIVE LLM call.</a:t>
            </a:r>
          </a:p>
          <a:p>
            <a:r>
              <a:t>5) (Optional) switch candidate to show the top match adapts.</a:t>
            </a:r>
          </a:p>
          <a:p>
            <a:r>
              <a:t>Then press Cmd+Tab back to PowerPoint.</a:t>
            </a:r>
          </a:p>
          <a:p>
            <a:r>
              <a:t>If the network fails: stay calm, show the llm_explain_match cell and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 To summarize, here's how the project maps to each official requirement -- complete input-analysis-display-recommendation pipeline, Python + Jupyter, all required libraries, four modules with nine controls, fully runnable, and a verified live Qwen analysis. Say it as a RECAP, not self-grading.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 Honestly, there are limits. The dataset is synthetic. Skill matching is term-level -- TF-IDF gives partial credit but not true synonyms; embeddings would fix that. Each LLM call needs internet and takes a few seconds; caching would help. And there's no feedback loop yet -- HR ratings could tune the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[0:30]  In summary: combining rule-based scoring with an LLM gives both transparency and intelligence. The result is fast, explainable, interactive job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[Q&amp;A ~5:00]  Thank you -- I'm happy to take questions.</a:t>
            </a:r>
          </a:p>
          <a:p>
            <a:r>
              <a:t>LIKELY QUESTIONS:</a:t>
            </a:r>
          </a:p>
          <a:p>
            <a:r>
              <a:t>- Where is scikit-learn? -&gt; in skill_match_score (cell 6): TF-IDF vectorizer + cosine similarity.</a:t>
            </a:r>
          </a:p>
          <a:p>
            <a:r>
              <a:t>- Which model / is it really live? -&gt; qwen-plus via DashScope, OpenAI-compatible; yes, a live API call -- I can run it again.</a:t>
            </a:r>
          </a:p>
          <a:p>
            <a:r>
              <a:t>- Why not pure LLM? -&gt; a black box, slow, costs per call; rules give auditable scores, the LLM only adds explanation.</a:t>
            </a:r>
          </a:p>
          <a:p>
            <a:r>
              <a:t>- Weaknesses? -&gt; synthetic data and term-level matching; embeddings are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29184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1206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62" y="320040"/>
            <a:ext cx="242377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0F3DA8"/>
                </a:solidFill>
                <a:latin typeface="Calibri"/>
              </a:defRPr>
            </a:pPr>
            <a:r>
              <a:t>LLM-Powered Intelligent Job Matching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4A5A6A"/>
                </a:solidFill>
                <a:latin typeface="Calibri"/>
              </a:defRPr>
            </a:pPr>
            <a:r>
              <a:t>Final Project  —  LLM-Assisted Intelligent Decision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362895" cy="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" b="0" i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5029200" y="393192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1A1A2E"/>
                </a:solidFill>
                <a:latin typeface="Calibri"/>
              </a:defRPr>
            </a:pPr>
            <a:r>
              <a:t>Presented by:  PAINDA MOHAMMAD FAYAZ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Student ID: 22511204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B8D"/>
                </a:solidFill>
                <a:latin typeface="Calibri"/>
              </a:defRPr>
            </a:pPr>
            <a:r>
              <a:t>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Presentation Outline</a:t>
            </a:r>
          </a:p>
        </p:txBody>
      </p:sp>
      <p:pic>
        <p:nvPicPr>
          <p:cNvPr id="5" name="Picture 4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2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Problem 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Why job matching matters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Current Difficulties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Pain points in traditional recruiting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Rule-based + LLM hybrid approach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Scoring 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Four-dimension weighted matching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LLM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How Qwen enhances the system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Interactive Interface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Jupyter widgets &amp; Flask web 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Live Demo Walkthrough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End-to-end demonstration flow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823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Results &amp; Capabilities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What the system achieves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Known gaps and roadmap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Summary &amp;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1. Problem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Why intelligent job matching matters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25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HR teams in tech companies need to match candidates to job postings for campus and social recruiting. The process is manual, time-consuming, and often inconsistent across different recruiters.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743200"/>
            <a:ext cx="54864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56DB"/>
                </a:solidFill>
                <a:latin typeface="Calibri"/>
              </a:defRPr>
            </a:pPr>
            <a:r>
              <a:t>Target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HR teams &amp; recruiters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Job seekers &amp; candidates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Recruiting platforms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2743200"/>
            <a:ext cx="54864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0897B"/>
                </a:solidFill>
                <a:latin typeface="Calibri"/>
              </a:defRPr>
            </a:pPr>
            <a:r>
              <a:t>Project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Sortable, explainable matches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Multi-dimensional scoring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AI-powered recommendations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2743200"/>
            <a:ext cx="54864" cy="13716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69F00"/>
                </a:solidFill>
                <a:latin typeface="Calibri"/>
              </a:defRPr>
            </a:pPr>
            <a:r>
              <a:t>Data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1,070 job postings (LinkedIn-style)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153 candidate profiles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15+ tech categories 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728655" cy="128016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5–10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Per resume review</a:t>
            </a:r>
            <a:br/>
            <a:r>
              <a:t>(manual process)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77 Jobs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Across 10 US cities</a:t>
            </a:r>
            <a:br/>
            <a:r>
              <a:t>&amp; remote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26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Backend, Frontend,</a:t>
            </a:r>
            <a:br/>
            <a:r>
              <a:t>AI/ML, DevOps, etc.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4 Dimensions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Skills, Experience,</a:t>
            </a:r>
            <a:br/>
            <a:r>
              <a:t>Education, Location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2. Current Difficulties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Pain points in traditional recruiting workflows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4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71600"/>
            <a:ext cx="64008" cy="2103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45920"/>
            <a:ext cx="457200" cy="45720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62828"/>
                </a:solidFill>
                <a:latin typeface="Calibri"/>
              </a:defRPr>
            </a:pPr>
            <a:r>
              <a:t>Low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HR spends 5–10 minutes per resume manually comparing qualifications to job requirements. This does not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371600"/>
            <a:ext cx="64008" cy="210312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1645920"/>
            <a:ext cx="457200" cy="457200"/>
          </a:xfrm>
          <a:prstGeom prst="round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65C00"/>
                </a:solidFill>
                <a:latin typeface="Calibri"/>
              </a:defRPr>
            </a:pPr>
            <a:r>
              <a:t>Subjective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Different recruiters apply different criteria. Results are inconsistent and hard to quantify or audit.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794760"/>
            <a:ext cx="64008" cy="2103120"/>
          </a:xfrm>
          <a:prstGeom prst="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069080"/>
            <a:ext cx="457200" cy="457200"/>
          </a:xfrm>
          <a:prstGeom prst="round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Black-Box Rejections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Traditional ATS systems produce a single score with no explanation — candidates never learn why they were rejected.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794760"/>
            <a:ext cx="64008" cy="210312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75120" y="406908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897B"/>
                </a:solidFill>
                <a:latin typeface="Calibri"/>
              </a:defRPr>
            </a:pPr>
            <a:r>
              <a:t>Multi-Dimensional Tradeoffs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Skills, experience, education, location, and salary all matter, but the weights differ per role and per company.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3.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Two-layer hybrid: Rule-Based Scoring + LLM Explanation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5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2286000" cy="155448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Data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CSV / UI</a:t>
            </a:r>
            <a:br/>
            <a:r>
              <a:t>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417320"/>
            <a:ext cx="2286000" cy="155448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Rule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4-Dimension</a:t>
            </a:r>
            <a:br/>
            <a:r>
              <a:t>Weighted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1417320"/>
            <a:ext cx="2286000" cy="15544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Sort &amp;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Table + Charts</a:t>
            </a:r>
            <a:br/>
            <a:r>
              <a:t>+ Heatmap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1417320"/>
            <a:ext cx="2286000" cy="1554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LLM Explain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Qwen Analysis</a:t>
            </a:r>
            <a:br/>
            <a:r>
              <a:t>&amp;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Why This Design?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749039"/>
            <a:ext cx="3474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Pure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Transparent &amp; auditable</a:t>
            </a:r>
            <a:br/>
            <a:r>
              <a:t>but rigid, no semantics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80559" y="3749039"/>
            <a:ext cx="3474720" cy="5080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79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E65C00"/>
                </a:solidFill>
                <a:latin typeface="Calibri"/>
              </a:defRPr>
            </a:pPr>
            <a:r>
              <a:t>Pure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79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Flexible &amp; contextual</a:t>
            </a:r>
            <a:br/>
            <a:r>
              <a:t>but opaque, expensive, unreliable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49039"/>
            <a:ext cx="3474720" cy="508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Our Hybrid  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Rules provide auditable scores;</a:t>
            </a:r>
            <a:br/>
            <a:r>
              <a:t>LLM adds semantic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4. Scoring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Four-dimension weighted matching with adjustable parameters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6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Skills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keyword overlap + TF-IDF</a:t>
            </a:r>
            <a:br/>
            <a:r>
              <a:t>cosine similarity (scikit-learn)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Hybrid: exact keyword overlap,</a:t>
            </a:r>
            <a:br/>
            <a:r>
              <a:t>with TF-IDF cosine for related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29000" y="1325880"/>
            <a:ext cx="2697480" cy="77724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3872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if cand_exp ≥ job_min</a:t>
            </a:r>
            <a:br/>
            <a:r>
              <a:t>else proportional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Full score if meets minimum;</a:t>
            </a:r>
            <a:br/>
            <a:r>
              <a:t>partial credit otherwise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59" y="1325880"/>
            <a:ext cx="2697480" cy="7772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1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3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1908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Level mapping:</a:t>
            </a:r>
            <a:br/>
            <a:r>
              <a:t>Associate=1, Bachelor=2,</a:t>
            </a:r>
            <a:br/>
            <a:r>
              <a:t>Master=3, PhD=4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3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1.0 if meets or exceeds</a:t>
            </a:r>
            <a:br/>
            <a:r>
              <a:t>required level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1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9719" y="1325880"/>
            <a:ext cx="2697480" cy="7772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7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7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59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9944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9088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= exact match</a:t>
            </a:r>
            <a:br/>
            <a:r>
              <a:t>0.7 = remote option</a:t>
            </a:r>
            <a:br/>
            <a:r>
              <a:t>0.3 = different 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59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59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Preserves remote work</a:t>
            </a:r>
            <a:br/>
            <a:r>
              <a:t>and relocation options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5. LLM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Qwen API for semantic analysis and natural-language recommendations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7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3898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298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Design Phase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57276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Discussed module decomposition</a:t>
            </a:r>
            <a:br/>
            <a:r>
              <a:t>(input / analysis / display / recommendation)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177393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25856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1671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Code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4414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Generated ipywidgets UI template</a:t>
            </a:r>
            <a:br/>
            <a:r>
              <a:t>and matplotlib dual-view charts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264261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10896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31272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0358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Debugging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31012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Helped debug font display, weight</a:t>
            </a:r>
            <a:br/>
            <a:r>
              <a:t>normalization, CSV parsing issues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" y="351129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3977639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995927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904487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Runtime (Core)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178807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Decision-support engine: generates</a:t>
            </a:r>
            <a:br/>
            <a:r>
              <a:t>highlights / gaps / recommendation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" y="4379975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8646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773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04748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Suggested location mismatch score</a:t>
            </a:r>
            <a:br/>
            <a:r>
              <a:t>of 0.3 instead of 0 for remote options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0" y="1234440"/>
            <a:ext cx="576072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0" y="1234440"/>
            <a:ext cx="5760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13716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Runtime Prompt 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187451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Role Setup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87451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"You are an experienced and concise HR consultant"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5420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Input Context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254203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Candidate profile + Job details + System scores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209544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Output Format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209544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3-section Markdown:</a:t>
            </a:r>
            <a:br/>
            <a:r>
              <a:t>   ✅ Match Highlights (2–3 bullets)</a:t>
            </a:r>
            <a:br/>
            <a:r>
              <a:t>   ⚠️ Main Gaps (2–3 bullets)</a:t>
            </a:r>
            <a:br/>
            <a:r>
              <a:t>   💡 Recommendation (1 sentence)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877056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3877056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qwen-plus (configurable via LLM_MODEL env var)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54456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Token Limit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454456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max_tokens: 600 (cost control)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521207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Cost Estimate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2120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~10 calls for demo, ~600 tokens each, ~$0.15 USD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6. Interactive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Jupyter ipywidgets + Flask web application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8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Jupyter Notebook (Primary)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02920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Candidate selector dropdown (153 candidates)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Skills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Experience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Education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filter (multi-select, 10 cities + Remote)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Minimum salary filter ($0 – $300K)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Top-N control (3 – 15 results)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LLM analysis toggle (enable/disable Qwen)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Flask Web App (Alternative)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5212080" cy="50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202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Modern responsive web UI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Real-time AJAX matching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Interactive weight adjustment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&amp; salary filtering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Score-colored result cards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Qwen analysis on demand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Runs on localhost:5000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F3DA8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26280"/>
            <a:ext cx="5212080" cy="1645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663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pandas, numpy, scikit-learn, matplotlib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01091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Qwen (DashScope) API (qwen-plus)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35838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358383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ipywidgets + Flask + HTML/JS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058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70585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CSV (jobs.csv, candidates.csv)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7. Live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Recommended 3–4 minute demonstration flow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9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14813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Select Candidate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Pick "Alex Johnson"</a:t>
            </a:r>
            <a:br/>
            <a:r>
              <a:t>(Python backend, 5 years, Bachelor)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Start with a well-rounded candidate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4813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Default Matching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Run with default weights</a:t>
            </a:r>
            <a:br/>
            <a:r>
              <a:t>(Skills 50%, Exp 20%, Edu 15%, Loc 15%)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5 shows Senior Python Backend at ~90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3081528"/>
            <a:ext cx="777240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Adjust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Raise the Location weight slider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E7D32"/>
                </a:solidFill>
                <a:latin typeface="Calibri"/>
              </a:defRPr>
            </a:pPr>
            <a:r>
              <a:t>→ Location-matched jobs jump to the top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37960" y="3081528"/>
            <a:ext cx="777240" cy="29260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Apply Filters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Filter to "San Francisco, CA"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69F00"/>
                </a:solidFill>
                <a:latin typeface="Calibri"/>
              </a:defRPr>
            </a:pPr>
            <a:r>
              <a:t>→ Live filtering narrows results instantly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46817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View AI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Show Qwen-generated explanation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308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Highlights / Gaps / Recommendation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37960" y="46817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Switch Candidate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Change to "Harper Scott" (LLM engineer)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1 auto-changes to LLM Engineer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8. Results &amp;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What the system achieves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10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F3DA8"/>
                </a:solidFill>
                <a:latin typeface="Calibri"/>
              </a:defRPr>
            </a:pPr>
            <a:r>
              <a:t>Assignment Requirements Checklist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How the project maps to each official requirement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97480"/>
            <a:ext cx="10728655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" y="2880360"/>
            <a:ext cx="10454335" cy="4572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6265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Complete input → analysis → display → recommendation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6265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D32"/>
                </a:solidFill>
                <a:latin typeface="Calibri"/>
              </a:defRPr>
            </a:pPr>
            <a:r>
              <a:t>✅ All 4 modules implemented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6557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Python + Jupyter Notebook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4655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D32"/>
                </a:solidFill>
                <a:latin typeface="Calibri"/>
              </a:defRPr>
            </a:pPr>
            <a:r>
              <a:t>✅ job_matching.ipynb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886200"/>
            <a:ext cx="10454335" cy="4572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96849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Use pandas / matplotlib / scikit-learn / ipywidgets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9684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D32"/>
                </a:solidFill>
                <a:latin typeface="Calibri"/>
              </a:defRPr>
            </a:pPr>
            <a:r>
              <a:t>✅ All present and functional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47141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Data input, analysis, display, parameter interaction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47141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D32"/>
                </a:solidFill>
                <a:latin typeface="Calibri"/>
              </a:defRPr>
            </a:pPr>
            <a:r>
              <a:t>✅ Modules 1–4 with 9 controls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892040"/>
            <a:ext cx="10454335" cy="4572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97433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Not chat logs, static docs, or non-runnable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97433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D32"/>
                </a:solidFill>
                <a:latin typeface="Calibri"/>
              </a:defRPr>
            </a:pPr>
            <a:r>
              <a:t>✅ Fully runnable end-to-end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477256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2E"/>
                </a:solidFill>
                <a:latin typeface="Calibri"/>
              </a:defRPr>
            </a:pPr>
            <a:r>
              <a:t>LLM-assisted decision support (live)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47725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E7D32"/>
                </a:solidFill>
                <a:latin typeface="Calibri"/>
              </a:defRPr>
            </a:pPr>
            <a:r>
              <a:t>✅ Qwen analysis verified working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9. 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Known gaps and improvement roadmap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11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C62828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76479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Term-Level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TF-IDF captures shared context but not</a:t>
            </a:r>
            <a:br/>
            <a:r>
              <a:t>true synonyms (React ≈ Vue)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81635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Synthetic 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1,070 jobs / 153 candidates are generated;</a:t>
            </a:r>
            <a:br/>
            <a:r>
              <a:t>not validated against real resumes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9476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79476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86791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LLM Latency &amp;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1148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Each API call takes 2–5 seconds;</a:t>
            </a:r>
            <a:br/>
            <a:r>
              <a:t>requires internet connection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84632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91947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No Learning Feedback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663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System doesn’t learn from HR</a:t>
            </a:r>
            <a:br/>
            <a:r>
              <a:t>ratings of recommendations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Future Improvements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69164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69164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185623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185623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17465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Semantic Embeddings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4650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Replace keyword sets with</a:t>
            </a:r>
            <a:br/>
            <a:r>
              <a:t>embedding-model similarity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56032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56032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272491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9944" y="272491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261518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Resume Parsing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261518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Upload PDF/Word resumes;</a:t>
            </a:r>
            <a:br/>
            <a:r>
              <a:t>LLM auto-extracts structure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42900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342900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359359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59359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4838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Bidirectional Matching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48386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Also recommend candidates</a:t>
            </a:r>
            <a:br/>
            <a:r>
              <a:t>for a given job posting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297679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4297679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00800" y="4462271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9944" y="4462271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35254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Reinforcement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352543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HR rates recommendations;</a:t>
            </a:r>
            <a:br/>
            <a:r>
              <a:t>weights auto-adjust via RL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516636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516636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0" y="533095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9944" y="533095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2212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Multi-Model Voting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22122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Call multiple LLMs, aggregate</a:t>
            </a:r>
            <a:br/>
            <a:r>
              <a:t>for more reliable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10.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Key takeaways from the project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12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258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25880"/>
            <a:ext cx="64008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00200"/>
            <a:ext cx="502920" cy="50292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16184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1435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A56DB"/>
                </a:solidFill>
                <a:latin typeface="Calibri"/>
              </a:defRPr>
            </a:pPr>
            <a:r>
              <a:t>Hybrid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17830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Rule-based scoring provides transparency and auditability;</a:t>
            </a:r>
            <a:br/>
            <a:r>
              <a:t>LLM adds semantic understanding and natural-language explanations.</a:t>
            </a:r>
            <a:br/>
            <a:r>
              <a:t>Neither alone is sufficient — the combination delivers the best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64008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3200400"/>
            <a:ext cx="502920" cy="50292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2186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0358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00897B"/>
                </a:solidFill>
                <a:latin typeface="Calibri"/>
              </a:defRPr>
            </a:pPr>
            <a:r>
              <a:t>Full-Stack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832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Complete pipeline from data input through analysis, visualization,</a:t>
            </a:r>
            <a:br/>
            <a:r>
              <a:t>and AI-powered recommendations. Two interfaces: Jupyter + Flask web app.</a:t>
            </a:r>
            <a:br/>
            <a:r>
              <a:t>All assignment requirements met with runnable, end-to-end code.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526280"/>
            <a:ext cx="64008" cy="1371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80060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1" y="48188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636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2E7D32"/>
                </a:solidFill>
                <a:latin typeface="Calibri"/>
              </a:defRPr>
            </a:pPr>
            <a:r>
              <a:t>Practical LLM Usage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9834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Qwen is used across the full project lifecycle: design, coding,</a:t>
            </a:r>
            <a:br/>
            <a:r>
              <a:t>debugging, runtime analysis, and optimization. The runtime prompt</a:t>
            </a:r>
            <a:br/>
            <a:r>
              <a:t>is carefully engineered for structured, cost-effective output.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47472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526" y="365760"/>
            <a:ext cx="2250643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F3DA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4A5A6A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356616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840480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Student:  PAINDA MOHAMMAD FAYAZ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4528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 ID:  22511204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608576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Course:  LLM-Assisted Intelligent Decision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992624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Email:  fayazpainda@mail.dlut.edu.cn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355080"/>
            <a:ext cx="2041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